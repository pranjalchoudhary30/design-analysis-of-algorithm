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 am Pranjal Chaudhary, PRN 25070521235, Section D, B.Tech Computer Science Engineering. This video is for my Design and Analysis of Algorithms assignment, and the topic is Prim's Algorithm for finding a Minimum Spanning Tree. As you can see on the slide, both this presentation and the video were generated using Claude AI. Let's begin by understanding what a minimum spanning tree is. [~20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Prim's algorithm, a few basics. A graph is a set of vertices joined by edges. In a weighted graph every edge has a cost. A spanning tree picks edges so that every vertex is connected and there is no cycle. Among all spanning trees, the one with the smallest total weight is the minimum spanning tree, or MST. For V vertices, an MST always has exactly V minus 1 edges. On the right you can see the original graph with seven edges, and its MST with only four.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Prim's algorithm is a greedy algorithm. Greedy means that at every step it takes the best choice available right now. It works on a connected, undirected, weighted graph. We pick a start vertex, and then repeatedly choose the cheapest edge that connects the tree we have built to a vertex outside it. That new vertex joins the tree. We stop when all vertices are in. Note the difference from Kruskal's algorithm: Kruskal sorts all edges and joins separate components, while Prim grows one single tree from a start vertex. [~25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steps. First pick a start vertex and mark it as included. Then look at all edges that go from included vertices to unvisited ones, and pick the cheapest. Add that vertex, and update the cheapest known connection cost for its neighbours. Repeat until every vertex is included, then print the MST and its total weight. The flowchart on the right shows the same logic: key, parent and visited arrays are initialised, and the loop continues until the answer to 'all vertices included?' is yes. [~25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worked example. This graph has five vertices, A to E, and seven edges with these weights: A-B is 2, A-C is 3, B-C is 1, B-D is 4, C-D is 5, C-E is 6 and D-E is 2. We start from vertex A. Prim's algorithm will repeatedly pick the cheapest edge that connects our current tree to a vertex outside it. Let's run it step by step. [~20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the tree is just A. Available edges are A-B with weight 2 and A-C with weight 3. We pick A-B, because 2 is smaller. Step two: the tree is A and B. Eligible edges are A-C 3, B-C 1 and B-D 4. B-C is the smallest at 1, so we add C. Step three: the tree is A, B and C. Eligible edges are B-D 4, C-D 5 and C-E 6. We take B-D with weight 4. Notice we ignore edges like A-C, because both ends are already in the tree and it would form a cycle. Step four: the tree is A, B, C and D. Eligible edges are C-E 6 and D-E 2. We pick D-E, and now all five vertices are included.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final result. On the left is the original graph, on the right the MST using four edges: A-B 2, B-C 1, B-D 4 and D-E 2. The total weight is 2 plus 1 plus 4 plus 2, which is 9. We have 5 vertices and 4 MST edges, which matches V minus 1. [~20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pseudocode. We set key of every vertex to infinity, parent to minus one, and mstSet to false. Then key of the start vertex is zero, so it is picked first. We repeat V times: choose the unvisited vertex u with the minimum key, mark it as included, and then check each neighbour v. If the edge exists, v is not in the MST, and the edge weight is smaller than key of v, we update parent and key. Key stores the cheapest known connection cost, parent stores how each vertex joins the tree, and mstSet tracks included vertices. [~25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my C implementation. The function minKey loops over all vertices, skips those already in mstSet, and returns the index of the unvisited vertex with the smallest key. The function prim sets key and mstSet, makes key of vertex zero equal to zero so vertex zero is the start, then repeatedly picks the minimum key vertex, marks it included, and updates parent and key for its neighbours. Finally it calls printTree, which prints each edge using parent and the adjacency matrix. The main condition has three parts: graph u v is non-zero means an edge exists, not mstSet v means v is still outside the tree, and graph u v less than key v means this edge is cheaper. Data structures are the adjacency matrix graph, and the arrays key, parent and mstSet. One note: my supplied snippet has an incomplete main function, so it is not a complete runnable program on its own. [~35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complexity. My implementation uses an adjacency matrix and a linear search. Finding the minimum key vertex takes O of V time, and scanning neighbours also takes O of V. We do this V times, so the time is O of V squared. Space is O of V squared too, because the matrix has V times V entries; the key, parent and mstSet arrays add only O of V. A different implementation with an adjacency list and a binary min-heap can run in O of E log V time for a connected graph. But remember, O of V squared is the complexity of my current implementation. [~25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Prim's algorithm is useful whenever we must connect many places at minimum total cost: computer network cabling, electrical power grids, road planning, and telecom infrastructure. Its advantages: it is simple, greedy, and builds the tree step by step. The matrix version suits dense graphs. Limitations: my implementation assumes a connected graph, so a disconnected graph is not handled safely. O of V squared can be slow for very large sparse graphs. Also, since zero means no edge in my condition, zero-weight edges cannot be represented, and a complete program should validate its input. [~20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Prim's algorithm is a greedy method for finding a minimum spanning tree. It starts from one vertex and repeatedly picks the cheapest edge from the tree to an outside vertex. A connected graph with V vertices has an MST with V minus 1 edges. In our example the MST had four edges and a total weight of 9. My adjacency-matrix implementation takes O of V squared time and O of V squared space. For references I used the CLRS textbook, GeeksforGeeks and Programiz. Thank you for watching. This presentation and video were generated using Claude AI. [~20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p:bgPr>
    </p:bg>
    <p:spTree>
      <p:nvGrpSpPr>
        <p:cNvPr id="1" name=""/>
        <p:cNvGrpSpPr/>
        <p:nvPr/>
      </p:nvGrpSpPr>
      <p:grpSpPr>
        <a:xfrm>
          <a:off x="0" y="0"/>
          <a:ext cx="0" cy="0"/>
          <a:chOff x="0" y="0"/>
          <a:chExt cx="0" cy="0"/>
        </a:xfrm>
      </p:grpSpPr>
      <p:sp>
        <p:nvSpPr>
          <p:cNvPr id="2" name="Text 0"/>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3" name="Text 1"/>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1</a:t>
            </a:r>
            <a:endParaRPr lang="en-US" sz="800" dirty="0"/>
          </a:p>
        </p:txBody>
      </p:sp>
      <p:sp>
        <p:nvSpPr>
          <p:cNvPr id="5" name="Shape 2"/>
          <p:cNvSpPr/>
          <p:nvPr/>
        </p:nvSpPr>
        <p:spPr>
          <a:xfrm>
            <a:off x="0" y="0"/>
            <a:ext cx="9144000" cy="73152"/>
          </a:xfrm>
          <a:prstGeom prst="rect">
            <a:avLst/>
          </a:prstGeom>
          <a:solidFill>
            <a:srgbClr val="A855F7"/>
          </a:solidFill>
          <a:ln w="12700">
            <a:solidFill>
              <a:srgbClr val="A855F7"/>
            </a:solidFill>
            <a:prstDash val="solid"/>
          </a:ln>
        </p:spPr>
      </p:sp>
      <p:sp>
        <p:nvSpPr>
          <p:cNvPr id="6" name="Text 3"/>
          <p:cNvSpPr txBox="1"/>
          <p:nvPr/>
        </p:nvSpPr>
        <p:spPr>
          <a:xfrm>
            <a:off x="457200" y="548640"/>
            <a:ext cx="4572000" cy="274320"/>
          </a:xfrm>
          <a:prstGeom prst="rect">
            <a:avLst/>
          </a:prstGeom>
          <a:noFill/>
          <a:ln/>
        </p:spPr>
        <p:txBody>
          <a:bodyPr wrap="square" lIns="0" tIns="0" rIns="0" bIns="0" rtlCol="0" anchor="t"/>
          <a:lstStyle/>
          <a:p>
            <a:pPr indent="0" marL="0">
              <a:buNone/>
            </a:pPr>
            <a:r>
              <a:rPr lang="en-US" sz="1100" b="1" spc="400" kern="0" dirty="0">
                <a:solidFill>
                  <a:srgbClr val="A855F7"/>
                </a:solidFill>
                <a:latin typeface="Calibri" pitchFamily="34" charset="0"/>
                <a:ea typeface="Calibri" pitchFamily="34" charset="-122"/>
                <a:cs typeface="Calibri" pitchFamily="34" charset="-120"/>
              </a:rPr>
              <a:t>DAA ASSIGNMENT</a:t>
            </a:r>
            <a:endParaRPr lang="en-US" sz="1100" dirty="0"/>
          </a:p>
        </p:txBody>
      </p:sp>
      <p:sp>
        <p:nvSpPr>
          <p:cNvPr id="7" name="Text 4"/>
          <p:cNvSpPr txBox="1"/>
          <p:nvPr/>
        </p:nvSpPr>
        <p:spPr>
          <a:xfrm>
            <a:off x="457200" y="868680"/>
            <a:ext cx="4937760" cy="6400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PRIM'S ALGORITHM</a:t>
            </a:r>
            <a:endParaRPr lang="en-US" sz="3400" dirty="0"/>
          </a:p>
        </p:txBody>
      </p:sp>
      <p:sp>
        <p:nvSpPr>
          <p:cNvPr id="8" name="Text 5"/>
          <p:cNvSpPr txBox="1"/>
          <p:nvPr/>
        </p:nvSpPr>
        <p:spPr>
          <a:xfrm>
            <a:off x="457200" y="1554480"/>
            <a:ext cx="4572000" cy="548640"/>
          </a:xfrm>
          <a:prstGeom prst="rect">
            <a:avLst/>
          </a:prstGeom>
          <a:noFill/>
          <a:ln/>
        </p:spPr>
        <p:txBody>
          <a:bodyPr wrap="square" lIns="0" tIns="0" rIns="0" bIns="0" rtlCol="0" anchor="t"/>
          <a:lstStyle/>
          <a:p>
            <a:pPr indent="0" marL="0">
              <a:buNone/>
            </a:pPr>
            <a:r>
              <a:rPr lang="en-US" sz="1500" dirty="0">
                <a:solidFill>
                  <a:srgbClr val="22D3EE"/>
                </a:solidFill>
                <a:latin typeface="Calibri" pitchFamily="34" charset="0"/>
                <a:ea typeface="Calibri" pitchFamily="34" charset="-122"/>
                <a:cs typeface="Calibri" pitchFamily="34" charset="-120"/>
              </a:rPr>
              <a:t>Finding the Minimum Spanning Tree of a Weighted Graph</a:t>
            </a:r>
            <a:endParaRPr lang="en-US" sz="1500" dirty="0"/>
          </a:p>
        </p:txBody>
      </p:sp>
      <p:sp>
        <p:nvSpPr>
          <p:cNvPr id="9" name="Shape 6"/>
          <p:cNvSpPr/>
          <p:nvPr/>
        </p:nvSpPr>
        <p:spPr>
          <a:xfrm>
            <a:off x="457200" y="2286000"/>
            <a:ext cx="4572000" cy="1783080"/>
          </a:xfrm>
          <a:prstGeom prst="roundRect">
            <a:avLst>
              <a:gd name="adj" fmla="val 4103"/>
            </a:avLst>
          </a:prstGeom>
          <a:solidFill>
            <a:srgbClr val="141B3A"/>
          </a:solidFill>
          <a:ln w="12700">
            <a:solidFill>
              <a:srgbClr val="A855F7"/>
            </a:solidFill>
            <a:prstDash val="solid"/>
          </a:ln>
        </p:spPr>
      </p:sp>
      <p:sp>
        <p:nvSpPr>
          <p:cNvPr id="10" name="Text 7"/>
          <p:cNvSpPr txBox="1"/>
          <p:nvPr/>
        </p:nvSpPr>
        <p:spPr>
          <a:xfrm>
            <a:off x="640080" y="2395728"/>
            <a:ext cx="4297680" cy="1600200"/>
          </a:xfrm>
          <a:prstGeom prst="rect">
            <a:avLst/>
          </a:prstGeom>
          <a:noFill/>
          <a:ln/>
        </p:spPr>
        <p:txBody>
          <a:bodyPr wrap="square" lIns="0" tIns="0" rIns="0" bIns="0" rtlCol="0" anchor="t"/>
          <a:lstStyle/>
          <a:p>
            <a:pPr indent="0" marL="0">
              <a:spcAft>
                <a:spcPts val="500"/>
              </a:spcAft>
              <a:buNone/>
            </a:pPr>
            <a:r>
              <a:rPr lang="en-US" sz="1200" b="1" dirty="0">
                <a:solidFill>
                  <a:srgbClr val="22D3EE"/>
                </a:solidFill>
                <a:latin typeface="Calibri" pitchFamily="34" charset="0"/>
                <a:ea typeface="Calibri" pitchFamily="34" charset="-122"/>
                <a:cs typeface="Calibri" pitchFamily="34" charset="-120"/>
              </a:rPr>
              <a:t>Name:  </a:t>
            </a:r>
            <a:pPr indent="0" marL="0">
              <a:spcAft>
                <a:spcPts val="500"/>
              </a:spcAft>
              <a:buNone/>
            </a:pPr>
            <a:r>
              <a:rPr lang="en-US" sz="1200" dirty="0">
                <a:solidFill>
                  <a:srgbClr val="E2E8F0"/>
                </a:solidFill>
                <a:latin typeface="Calibri" pitchFamily="34" charset="0"/>
                <a:ea typeface="Calibri" pitchFamily="34" charset="-122"/>
                <a:cs typeface="Calibri" pitchFamily="34" charset="-120"/>
              </a:rPr>
              <a:t>Pranjal Chaudhary</a:t>
            </a:r>
            <a:endParaRPr lang="en-US" sz="1200" dirty="0"/>
          </a:p>
          <a:p>
            <a:pPr indent="0" marL="0">
              <a:spcAft>
                <a:spcPts val="500"/>
              </a:spcAft>
              <a:buNone/>
            </a:pPr>
            <a:r>
              <a:rPr lang="en-US" sz="1200" b="1" dirty="0">
                <a:solidFill>
                  <a:srgbClr val="22D3EE"/>
                </a:solidFill>
                <a:latin typeface="Calibri" pitchFamily="34" charset="0"/>
                <a:ea typeface="Calibri" pitchFamily="34" charset="-122"/>
                <a:cs typeface="Calibri" pitchFamily="34" charset="-120"/>
              </a:rPr>
              <a:t>PRN:  </a:t>
            </a:r>
            <a:pPr indent="0" marL="0">
              <a:spcAft>
                <a:spcPts val="500"/>
              </a:spcAft>
              <a:buNone/>
            </a:pPr>
            <a:r>
              <a:rPr lang="en-US" sz="1200" dirty="0">
                <a:solidFill>
                  <a:srgbClr val="E2E8F0"/>
                </a:solidFill>
                <a:latin typeface="Calibri" pitchFamily="34" charset="0"/>
                <a:ea typeface="Calibri" pitchFamily="34" charset="-122"/>
                <a:cs typeface="Calibri" pitchFamily="34" charset="-120"/>
              </a:rPr>
              <a:t>25070521235</a:t>
            </a:r>
            <a:endParaRPr lang="en-US" sz="1200" dirty="0"/>
          </a:p>
          <a:p>
            <a:pPr indent="0" marL="0">
              <a:spcAft>
                <a:spcPts val="500"/>
              </a:spcAft>
              <a:buNone/>
            </a:pPr>
            <a:r>
              <a:rPr lang="en-US" sz="1200" b="1" dirty="0">
                <a:solidFill>
                  <a:srgbClr val="22D3EE"/>
                </a:solidFill>
                <a:latin typeface="Calibri" pitchFamily="34" charset="0"/>
                <a:ea typeface="Calibri" pitchFamily="34" charset="-122"/>
                <a:cs typeface="Calibri" pitchFamily="34" charset="-120"/>
              </a:rPr>
              <a:t>Section:  </a:t>
            </a:r>
            <a:pPr indent="0" marL="0">
              <a:spcAft>
                <a:spcPts val="500"/>
              </a:spcAft>
              <a:buNone/>
            </a:pPr>
            <a:r>
              <a:rPr lang="en-US" sz="1200" dirty="0">
                <a:solidFill>
                  <a:srgbClr val="E2E8F0"/>
                </a:solidFill>
                <a:latin typeface="Calibri" pitchFamily="34" charset="0"/>
                <a:ea typeface="Calibri" pitchFamily="34" charset="-122"/>
                <a:cs typeface="Calibri" pitchFamily="34" charset="-120"/>
              </a:rPr>
              <a:t>D</a:t>
            </a:r>
            <a:endParaRPr lang="en-US" sz="1200" dirty="0"/>
          </a:p>
          <a:p>
            <a:pPr indent="0" marL="0">
              <a:spcAft>
                <a:spcPts val="500"/>
              </a:spcAft>
              <a:buNone/>
            </a:pPr>
            <a:r>
              <a:rPr lang="en-US" sz="1200" b="1" dirty="0">
                <a:solidFill>
                  <a:srgbClr val="22D3EE"/>
                </a:solidFill>
                <a:latin typeface="Calibri" pitchFamily="34" charset="0"/>
                <a:ea typeface="Calibri" pitchFamily="34" charset="-122"/>
                <a:cs typeface="Calibri" pitchFamily="34" charset="-120"/>
              </a:rPr>
              <a:t>Course:  </a:t>
            </a:r>
            <a:pPr indent="0" marL="0">
              <a:spcAft>
                <a:spcPts val="500"/>
              </a:spcAft>
              <a:buNone/>
            </a:pPr>
            <a:r>
              <a:rPr lang="en-US" sz="1200" dirty="0">
                <a:solidFill>
                  <a:srgbClr val="E2E8F0"/>
                </a:solidFill>
                <a:latin typeface="Calibri" pitchFamily="34" charset="0"/>
                <a:ea typeface="Calibri" pitchFamily="34" charset="-122"/>
                <a:cs typeface="Calibri" pitchFamily="34" charset="-120"/>
              </a:rPr>
              <a:t>B.Tech Computer Science Engineering</a:t>
            </a:r>
            <a:endParaRPr lang="en-US" sz="1200" dirty="0"/>
          </a:p>
          <a:p>
            <a:pPr indent="0" marL="0">
              <a:spcAft>
                <a:spcPts val="500"/>
              </a:spcAft>
              <a:buNone/>
            </a:pPr>
            <a:r>
              <a:rPr lang="en-US" sz="1200" b="1" dirty="0">
                <a:solidFill>
                  <a:srgbClr val="22D3EE"/>
                </a:solidFill>
                <a:latin typeface="Calibri" pitchFamily="34" charset="0"/>
                <a:ea typeface="Calibri" pitchFamily="34" charset="-122"/>
                <a:cs typeface="Calibri" pitchFamily="34" charset="-120"/>
              </a:rPr>
              <a:t>Subject:  </a:t>
            </a:r>
            <a:pPr indent="0" marL="0">
              <a:spcAft>
                <a:spcPts val="500"/>
              </a:spcAft>
              <a:buNone/>
            </a:pPr>
            <a:r>
              <a:rPr lang="en-US" sz="1200" dirty="0">
                <a:solidFill>
                  <a:srgbClr val="E2E8F0"/>
                </a:solidFill>
                <a:latin typeface="Calibri" pitchFamily="34" charset="0"/>
                <a:ea typeface="Calibri" pitchFamily="34" charset="-122"/>
                <a:cs typeface="Calibri" pitchFamily="34" charset="-120"/>
              </a:rPr>
              <a:t>Design and Analysis of Algorithms (DAA)</a:t>
            </a:r>
            <a:endParaRPr lang="en-US" sz="1200" dirty="0"/>
          </a:p>
        </p:txBody>
      </p:sp>
      <p:sp>
        <p:nvSpPr>
          <p:cNvPr id="11" name="Text 8"/>
          <p:cNvSpPr/>
          <p:nvPr/>
        </p:nvSpPr>
        <p:spPr>
          <a:xfrm>
            <a:off x="457200" y="4251960"/>
            <a:ext cx="2743200" cy="347472"/>
          </a:xfrm>
          <a:prstGeom prst="roundRect">
            <a:avLst>
              <a:gd name="adj" fmla="val 26316"/>
            </a:avLst>
          </a:prstGeom>
          <a:solidFill>
            <a:srgbClr val="A855F7"/>
          </a:solidFill>
          <a:ln/>
        </p:spPr>
        <p:txBody>
          <a:bodyPr wrap="square" lIns="0" tIns="0" rIns="0" bIns="0" rtlCol="0" anchor="ctr"/>
          <a:lstStyle/>
          <a:p>
            <a:pPr algn="ctr" indent="0" marL="0">
              <a:buNone/>
            </a:pPr>
            <a:r>
              <a:rPr lang="en-US" sz="1200" b="1" dirty="0">
                <a:solidFill>
                  <a:srgbClr val="FFFFFF"/>
                </a:solidFill>
              </a:rPr>
              <a:t>Generated using Claude AI</a:t>
            </a:r>
            <a:endParaRPr lang="en-US" sz="1200" dirty="0"/>
          </a:p>
        </p:txBody>
      </p:sp>
      <p:sp>
        <p:nvSpPr>
          <p:cNvPr id="12" name="Shape 9"/>
          <p:cNvSpPr/>
          <p:nvPr/>
        </p:nvSpPr>
        <p:spPr>
          <a:xfrm flipV="1">
            <a:off x="5804611" y="1598371"/>
            <a:ext cx="1316736" cy="1207008"/>
          </a:xfrm>
          <a:prstGeom prst="line">
            <a:avLst/>
          </a:prstGeom>
          <a:noFill/>
          <a:ln w="44450">
            <a:solidFill>
              <a:srgbClr val="22D3EE"/>
            </a:solidFill>
            <a:prstDash val="solid"/>
          </a:ln>
        </p:spPr>
      </p:sp>
      <p:sp>
        <p:nvSpPr>
          <p:cNvPr id="13" name="Text 10"/>
          <p:cNvSpPr txBox="1"/>
          <p:nvPr/>
        </p:nvSpPr>
        <p:spPr>
          <a:xfrm>
            <a:off x="6243523" y="2026310"/>
            <a:ext cx="438912" cy="351130"/>
          </a:xfrm>
          <a:prstGeom prst="rect">
            <a:avLst/>
          </a:prstGeom>
          <a:solidFill>
            <a:srgbClr val="0B1026"/>
          </a:solidFill>
          <a:ln/>
        </p:spPr>
        <p:txBody>
          <a:bodyPr wrap="square" lIns="0" tIns="0" rIns="0" bIns="0" rtlCol="0" anchor="ctr"/>
          <a:lstStyle/>
          <a:p>
            <a:pPr algn="ctr" indent="0" marL="0">
              <a:buNone/>
            </a:pPr>
            <a:r>
              <a:rPr lang="en-US" sz="1400" b="1" dirty="0">
                <a:solidFill>
                  <a:srgbClr val="22D3EE"/>
                </a:solidFill>
              </a:rPr>
              <a:t>2</a:t>
            </a:r>
            <a:endParaRPr lang="en-US" sz="1400" dirty="0"/>
          </a:p>
        </p:txBody>
      </p:sp>
      <p:sp>
        <p:nvSpPr>
          <p:cNvPr id="14" name="Shape 11"/>
          <p:cNvSpPr/>
          <p:nvPr/>
        </p:nvSpPr>
        <p:spPr>
          <a:xfrm>
            <a:off x="5804611" y="2805379"/>
            <a:ext cx="1316736" cy="1207008"/>
          </a:xfrm>
          <a:prstGeom prst="line">
            <a:avLst/>
          </a:prstGeom>
          <a:noFill/>
          <a:ln w="15875">
            <a:solidFill>
              <a:srgbClr val="475569"/>
            </a:solidFill>
            <a:prstDash val="solid"/>
          </a:ln>
        </p:spPr>
      </p:sp>
      <p:sp>
        <p:nvSpPr>
          <p:cNvPr id="15" name="Text 12"/>
          <p:cNvSpPr txBox="1"/>
          <p:nvPr/>
        </p:nvSpPr>
        <p:spPr>
          <a:xfrm>
            <a:off x="6243523" y="3233318"/>
            <a:ext cx="438912" cy="351130"/>
          </a:xfrm>
          <a:prstGeom prst="rect">
            <a:avLst/>
          </a:prstGeom>
          <a:solidFill>
            <a:srgbClr val="0B1026"/>
          </a:solidFill>
          <a:ln/>
        </p:spPr>
        <p:txBody>
          <a:bodyPr wrap="square" lIns="0" tIns="0" rIns="0" bIns="0" rtlCol="0" anchor="ctr"/>
          <a:lstStyle/>
          <a:p>
            <a:pPr algn="ctr" indent="0" marL="0">
              <a:buNone/>
            </a:pPr>
            <a:r>
              <a:rPr lang="en-US" sz="1400" b="1" dirty="0">
                <a:solidFill>
                  <a:srgbClr val="E2E8F0"/>
                </a:solidFill>
              </a:rPr>
              <a:t>3</a:t>
            </a:r>
            <a:endParaRPr lang="en-US" sz="1400" dirty="0"/>
          </a:p>
        </p:txBody>
      </p:sp>
      <p:sp>
        <p:nvSpPr>
          <p:cNvPr id="16" name="Shape 13"/>
          <p:cNvSpPr/>
          <p:nvPr/>
        </p:nvSpPr>
        <p:spPr>
          <a:xfrm>
            <a:off x="7121347" y="1598371"/>
            <a:ext cx="0" cy="2414016"/>
          </a:xfrm>
          <a:prstGeom prst="line">
            <a:avLst/>
          </a:prstGeom>
          <a:noFill/>
          <a:ln w="44450">
            <a:solidFill>
              <a:srgbClr val="22D3EE"/>
            </a:solidFill>
            <a:prstDash val="solid"/>
          </a:ln>
        </p:spPr>
      </p:sp>
      <p:sp>
        <p:nvSpPr>
          <p:cNvPr id="17" name="Text 14"/>
          <p:cNvSpPr txBox="1"/>
          <p:nvPr/>
        </p:nvSpPr>
        <p:spPr>
          <a:xfrm>
            <a:off x="6901891" y="2629814"/>
            <a:ext cx="438912" cy="351130"/>
          </a:xfrm>
          <a:prstGeom prst="rect">
            <a:avLst/>
          </a:prstGeom>
          <a:solidFill>
            <a:srgbClr val="0B1026"/>
          </a:solidFill>
          <a:ln/>
        </p:spPr>
        <p:txBody>
          <a:bodyPr wrap="square" lIns="0" tIns="0" rIns="0" bIns="0" rtlCol="0" anchor="ctr"/>
          <a:lstStyle/>
          <a:p>
            <a:pPr algn="ctr" indent="0" marL="0">
              <a:buNone/>
            </a:pPr>
            <a:r>
              <a:rPr lang="en-US" sz="1400" b="1" dirty="0">
                <a:solidFill>
                  <a:srgbClr val="22D3EE"/>
                </a:solidFill>
              </a:rPr>
              <a:t>1</a:t>
            </a:r>
            <a:endParaRPr lang="en-US" sz="1400" dirty="0"/>
          </a:p>
        </p:txBody>
      </p:sp>
      <p:sp>
        <p:nvSpPr>
          <p:cNvPr id="18" name="Shape 15"/>
          <p:cNvSpPr/>
          <p:nvPr/>
        </p:nvSpPr>
        <p:spPr>
          <a:xfrm>
            <a:off x="7121347" y="1598371"/>
            <a:ext cx="1755648" cy="0"/>
          </a:xfrm>
          <a:prstGeom prst="line">
            <a:avLst/>
          </a:prstGeom>
          <a:noFill/>
          <a:ln w="44450">
            <a:solidFill>
              <a:srgbClr val="22D3EE"/>
            </a:solidFill>
            <a:prstDash val="solid"/>
          </a:ln>
        </p:spPr>
      </p:sp>
      <p:sp>
        <p:nvSpPr>
          <p:cNvPr id="19" name="Text 16"/>
          <p:cNvSpPr txBox="1"/>
          <p:nvPr/>
        </p:nvSpPr>
        <p:spPr>
          <a:xfrm>
            <a:off x="7779715" y="1422806"/>
            <a:ext cx="438912" cy="351130"/>
          </a:xfrm>
          <a:prstGeom prst="rect">
            <a:avLst/>
          </a:prstGeom>
          <a:solidFill>
            <a:srgbClr val="0B1026"/>
          </a:solidFill>
          <a:ln/>
        </p:spPr>
        <p:txBody>
          <a:bodyPr wrap="square" lIns="0" tIns="0" rIns="0" bIns="0" rtlCol="0" anchor="ctr"/>
          <a:lstStyle/>
          <a:p>
            <a:pPr algn="ctr" indent="0" marL="0">
              <a:buNone/>
            </a:pPr>
            <a:r>
              <a:rPr lang="en-US" sz="1400" b="1" dirty="0">
                <a:solidFill>
                  <a:srgbClr val="22D3EE"/>
                </a:solidFill>
              </a:rPr>
              <a:t>4</a:t>
            </a:r>
            <a:endParaRPr lang="en-US" sz="1400" dirty="0"/>
          </a:p>
        </p:txBody>
      </p:sp>
      <p:sp>
        <p:nvSpPr>
          <p:cNvPr id="20" name="Shape 17"/>
          <p:cNvSpPr/>
          <p:nvPr/>
        </p:nvSpPr>
        <p:spPr>
          <a:xfrm flipV="1">
            <a:off x="7121347" y="1598371"/>
            <a:ext cx="1755648" cy="2414016"/>
          </a:xfrm>
          <a:prstGeom prst="line">
            <a:avLst/>
          </a:prstGeom>
          <a:noFill/>
          <a:ln w="15875">
            <a:solidFill>
              <a:srgbClr val="475569"/>
            </a:solidFill>
            <a:prstDash val="solid"/>
          </a:ln>
        </p:spPr>
      </p:sp>
      <p:sp>
        <p:nvSpPr>
          <p:cNvPr id="21" name="Text 18"/>
          <p:cNvSpPr txBox="1"/>
          <p:nvPr/>
        </p:nvSpPr>
        <p:spPr>
          <a:xfrm>
            <a:off x="7779715" y="2629814"/>
            <a:ext cx="438912" cy="351130"/>
          </a:xfrm>
          <a:prstGeom prst="rect">
            <a:avLst/>
          </a:prstGeom>
          <a:solidFill>
            <a:srgbClr val="0B1026"/>
          </a:solidFill>
          <a:ln/>
        </p:spPr>
        <p:txBody>
          <a:bodyPr wrap="square" lIns="0" tIns="0" rIns="0" bIns="0" rtlCol="0" anchor="ctr"/>
          <a:lstStyle/>
          <a:p>
            <a:pPr algn="ctr" indent="0" marL="0">
              <a:buNone/>
            </a:pPr>
            <a:r>
              <a:rPr lang="en-US" sz="1400" b="1" dirty="0">
                <a:solidFill>
                  <a:srgbClr val="E2E8F0"/>
                </a:solidFill>
              </a:rPr>
              <a:t>5</a:t>
            </a:r>
            <a:endParaRPr lang="en-US" sz="1400" dirty="0"/>
          </a:p>
        </p:txBody>
      </p:sp>
      <p:sp>
        <p:nvSpPr>
          <p:cNvPr id="22" name="Shape 19"/>
          <p:cNvSpPr/>
          <p:nvPr/>
        </p:nvSpPr>
        <p:spPr>
          <a:xfrm>
            <a:off x="7121347" y="4012387"/>
            <a:ext cx="1755648" cy="0"/>
          </a:xfrm>
          <a:prstGeom prst="line">
            <a:avLst/>
          </a:prstGeom>
          <a:noFill/>
          <a:ln w="15875">
            <a:solidFill>
              <a:srgbClr val="475569"/>
            </a:solidFill>
            <a:prstDash val="solid"/>
          </a:ln>
        </p:spPr>
      </p:sp>
      <p:sp>
        <p:nvSpPr>
          <p:cNvPr id="23" name="Text 20"/>
          <p:cNvSpPr txBox="1"/>
          <p:nvPr/>
        </p:nvSpPr>
        <p:spPr>
          <a:xfrm>
            <a:off x="7779715" y="3836822"/>
            <a:ext cx="438912" cy="351130"/>
          </a:xfrm>
          <a:prstGeom prst="rect">
            <a:avLst/>
          </a:prstGeom>
          <a:solidFill>
            <a:srgbClr val="0B1026"/>
          </a:solidFill>
          <a:ln/>
        </p:spPr>
        <p:txBody>
          <a:bodyPr wrap="square" lIns="0" tIns="0" rIns="0" bIns="0" rtlCol="0" anchor="ctr"/>
          <a:lstStyle/>
          <a:p>
            <a:pPr algn="ctr" indent="0" marL="0">
              <a:buNone/>
            </a:pPr>
            <a:r>
              <a:rPr lang="en-US" sz="1400" b="1" dirty="0">
                <a:solidFill>
                  <a:srgbClr val="E2E8F0"/>
                </a:solidFill>
              </a:rPr>
              <a:t>6</a:t>
            </a:r>
            <a:endParaRPr lang="en-US" sz="1400" dirty="0"/>
          </a:p>
        </p:txBody>
      </p:sp>
      <p:sp>
        <p:nvSpPr>
          <p:cNvPr id="24" name="Shape 21"/>
          <p:cNvSpPr/>
          <p:nvPr/>
        </p:nvSpPr>
        <p:spPr>
          <a:xfrm>
            <a:off x="8876995" y="1598371"/>
            <a:ext cx="0" cy="2414016"/>
          </a:xfrm>
          <a:prstGeom prst="line">
            <a:avLst/>
          </a:prstGeom>
          <a:noFill/>
          <a:ln w="44450">
            <a:solidFill>
              <a:srgbClr val="22D3EE"/>
            </a:solidFill>
            <a:prstDash val="solid"/>
          </a:ln>
        </p:spPr>
      </p:sp>
      <p:sp>
        <p:nvSpPr>
          <p:cNvPr id="25" name="Text 22"/>
          <p:cNvSpPr txBox="1"/>
          <p:nvPr/>
        </p:nvSpPr>
        <p:spPr>
          <a:xfrm>
            <a:off x="8657539" y="2629814"/>
            <a:ext cx="438912" cy="351130"/>
          </a:xfrm>
          <a:prstGeom prst="rect">
            <a:avLst/>
          </a:prstGeom>
          <a:solidFill>
            <a:srgbClr val="0B1026"/>
          </a:solidFill>
          <a:ln/>
        </p:spPr>
        <p:txBody>
          <a:bodyPr wrap="square" lIns="0" tIns="0" rIns="0" bIns="0" rtlCol="0" anchor="ctr"/>
          <a:lstStyle/>
          <a:p>
            <a:pPr algn="ctr" indent="0" marL="0">
              <a:buNone/>
            </a:pPr>
            <a:r>
              <a:rPr lang="en-US" sz="1400" b="1" dirty="0">
                <a:solidFill>
                  <a:srgbClr val="22D3EE"/>
                </a:solidFill>
              </a:rPr>
              <a:t>2</a:t>
            </a:r>
            <a:endParaRPr lang="en-US" sz="1400" dirty="0"/>
          </a:p>
        </p:txBody>
      </p:sp>
      <p:sp>
        <p:nvSpPr>
          <p:cNvPr id="26" name="Text 23"/>
          <p:cNvSpPr/>
          <p:nvPr/>
        </p:nvSpPr>
        <p:spPr>
          <a:xfrm>
            <a:off x="5577840" y="2578608"/>
            <a:ext cx="453542" cy="453542"/>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800" b="1" dirty="0">
                <a:solidFill>
                  <a:srgbClr val="FFFFFF"/>
                </a:solidFill>
              </a:rPr>
              <a:t>A</a:t>
            </a:r>
            <a:endParaRPr lang="en-US" sz="1800" dirty="0"/>
          </a:p>
        </p:txBody>
      </p:sp>
      <p:sp>
        <p:nvSpPr>
          <p:cNvPr id="27" name="Text 24"/>
          <p:cNvSpPr/>
          <p:nvPr/>
        </p:nvSpPr>
        <p:spPr>
          <a:xfrm>
            <a:off x="6894576" y="1371600"/>
            <a:ext cx="453542" cy="453542"/>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800" b="1" dirty="0">
                <a:solidFill>
                  <a:srgbClr val="FFFFFF"/>
                </a:solidFill>
              </a:rPr>
              <a:t>B</a:t>
            </a:r>
            <a:endParaRPr lang="en-US" sz="1800" dirty="0"/>
          </a:p>
        </p:txBody>
      </p:sp>
      <p:sp>
        <p:nvSpPr>
          <p:cNvPr id="28" name="Text 25"/>
          <p:cNvSpPr/>
          <p:nvPr/>
        </p:nvSpPr>
        <p:spPr>
          <a:xfrm>
            <a:off x="6894576" y="3785616"/>
            <a:ext cx="453542" cy="453542"/>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800" b="1" dirty="0">
                <a:solidFill>
                  <a:srgbClr val="FFFFFF"/>
                </a:solidFill>
              </a:rPr>
              <a:t>C</a:t>
            </a:r>
            <a:endParaRPr lang="en-US" sz="1800" dirty="0"/>
          </a:p>
        </p:txBody>
      </p:sp>
      <p:sp>
        <p:nvSpPr>
          <p:cNvPr id="29" name="Text 26"/>
          <p:cNvSpPr/>
          <p:nvPr/>
        </p:nvSpPr>
        <p:spPr>
          <a:xfrm>
            <a:off x="8650224" y="1371600"/>
            <a:ext cx="453542" cy="453542"/>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800" b="1" dirty="0">
                <a:solidFill>
                  <a:srgbClr val="FFFFFF"/>
                </a:solidFill>
              </a:rPr>
              <a:t>D</a:t>
            </a:r>
            <a:endParaRPr lang="en-US" sz="1800" dirty="0"/>
          </a:p>
        </p:txBody>
      </p:sp>
      <p:sp>
        <p:nvSpPr>
          <p:cNvPr id="30" name="Text 27"/>
          <p:cNvSpPr/>
          <p:nvPr/>
        </p:nvSpPr>
        <p:spPr>
          <a:xfrm>
            <a:off x="8650224" y="3785616"/>
            <a:ext cx="453542" cy="453542"/>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800" b="1" dirty="0">
                <a:solidFill>
                  <a:srgbClr val="FFFFFF"/>
                </a:solidFill>
              </a:rPr>
              <a:t>E</a:t>
            </a:r>
            <a:endParaRPr lang="en-US" sz="1800" dirty="0"/>
          </a:p>
        </p:txBody>
      </p:sp>
      <p:sp>
        <p:nvSpPr>
          <p:cNvPr id="31" name="Text 28"/>
          <p:cNvSpPr txBox="1"/>
          <p:nvPr/>
        </p:nvSpPr>
        <p:spPr>
          <a:xfrm>
            <a:off x="5577840" y="4389120"/>
            <a:ext cx="3108960" cy="2743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Cyan edges = growing MST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Understanding Minimum Spanning Trees</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2</a:t>
            </a:r>
            <a:endParaRPr lang="en-US" sz="800" dirty="0"/>
          </a:p>
        </p:txBody>
      </p:sp>
      <p:sp>
        <p:nvSpPr>
          <p:cNvPr id="7" name="Shape 4"/>
          <p:cNvSpPr/>
          <p:nvPr/>
        </p:nvSpPr>
        <p:spPr>
          <a:xfrm>
            <a:off x="365760" y="914400"/>
            <a:ext cx="4663440" cy="658368"/>
          </a:xfrm>
          <a:prstGeom prst="roundRect">
            <a:avLst>
              <a:gd name="adj" fmla="val 11111"/>
            </a:avLst>
          </a:prstGeom>
          <a:solidFill>
            <a:srgbClr val="141B3A"/>
          </a:solidFill>
          <a:ln w="12700">
            <a:solidFill>
              <a:srgbClr val="22D3EE"/>
            </a:solidFill>
            <a:prstDash val="solid"/>
          </a:ln>
        </p:spPr>
      </p:sp>
      <p:sp>
        <p:nvSpPr>
          <p:cNvPr id="8" name="Text 5"/>
          <p:cNvSpPr txBox="1"/>
          <p:nvPr/>
        </p:nvSpPr>
        <p:spPr>
          <a:xfrm>
            <a:off x="502920" y="969264"/>
            <a:ext cx="4389120" cy="54864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Graph</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Vertices connected by edges.</a:t>
            </a:r>
            <a:endParaRPr lang="en-US" sz="1100" dirty="0"/>
          </a:p>
        </p:txBody>
      </p:sp>
      <p:sp>
        <p:nvSpPr>
          <p:cNvPr id="9" name="Shape 6"/>
          <p:cNvSpPr/>
          <p:nvPr/>
        </p:nvSpPr>
        <p:spPr>
          <a:xfrm>
            <a:off x="365760" y="1664208"/>
            <a:ext cx="4663440" cy="658368"/>
          </a:xfrm>
          <a:prstGeom prst="roundRect">
            <a:avLst>
              <a:gd name="adj" fmla="val 11111"/>
            </a:avLst>
          </a:prstGeom>
          <a:solidFill>
            <a:srgbClr val="141B3A"/>
          </a:solidFill>
          <a:ln w="12700">
            <a:solidFill>
              <a:srgbClr val="A855F7"/>
            </a:solidFill>
            <a:prstDash val="solid"/>
          </a:ln>
        </p:spPr>
      </p:sp>
      <p:sp>
        <p:nvSpPr>
          <p:cNvPr id="10" name="Text 7"/>
          <p:cNvSpPr txBox="1"/>
          <p:nvPr/>
        </p:nvSpPr>
        <p:spPr>
          <a:xfrm>
            <a:off x="502920" y="1719072"/>
            <a:ext cx="4389120" cy="54864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Weighted Graph</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Every edge has a weight or cost.</a:t>
            </a:r>
            <a:endParaRPr lang="en-US" sz="1100" dirty="0"/>
          </a:p>
        </p:txBody>
      </p:sp>
      <p:sp>
        <p:nvSpPr>
          <p:cNvPr id="11" name="Shape 8"/>
          <p:cNvSpPr/>
          <p:nvPr/>
        </p:nvSpPr>
        <p:spPr>
          <a:xfrm>
            <a:off x="365760" y="2414016"/>
            <a:ext cx="4663440" cy="658368"/>
          </a:xfrm>
          <a:prstGeom prst="roundRect">
            <a:avLst>
              <a:gd name="adj" fmla="val 11111"/>
            </a:avLst>
          </a:prstGeom>
          <a:solidFill>
            <a:srgbClr val="141B3A"/>
          </a:solidFill>
          <a:ln w="12700">
            <a:solidFill>
              <a:srgbClr val="22D3EE"/>
            </a:solidFill>
            <a:prstDash val="solid"/>
          </a:ln>
        </p:spPr>
      </p:sp>
      <p:sp>
        <p:nvSpPr>
          <p:cNvPr id="12" name="Text 9"/>
          <p:cNvSpPr txBox="1"/>
          <p:nvPr/>
        </p:nvSpPr>
        <p:spPr>
          <a:xfrm>
            <a:off x="502920" y="2468880"/>
            <a:ext cx="4389120" cy="54864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Spanning Tree</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Connected, no cycles, includes every vertex.</a:t>
            </a:r>
            <a:endParaRPr lang="en-US" sz="1100" dirty="0"/>
          </a:p>
        </p:txBody>
      </p:sp>
      <p:sp>
        <p:nvSpPr>
          <p:cNvPr id="13" name="Shape 10"/>
          <p:cNvSpPr/>
          <p:nvPr/>
        </p:nvSpPr>
        <p:spPr>
          <a:xfrm>
            <a:off x="365760" y="3163824"/>
            <a:ext cx="4663440" cy="658368"/>
          </a:xfrm>
          <a:prstGeom prst="roundRect">
            <a:avLst>
              <a:gd name="adj" fmla="val 11111"/>
            </a:avLst>
          </a:prstGeom>
          <a:solidFill>
            <a:srgbClr val="141B3A"/>
          </a:solidFill>
          <a:ln w="12700">
            <a:solidFill>
              <a:srgbClr val="A855F7"/>
            </a:solidFill>
            <a:prstDash val="solid"/>
          </a:ln>
        </p:spPr>
      </p:sp>
      <p:sp>
        <p:nvSpPr>
          <p:cNvPr id="14" name="Text 11"/>
          <p:cNvSpPr txBox="1"/>
          <p:nvPr/>
        </p:nvSpPr>
        <p:spPr>
          <a:xfrm>
            <a:off x="502920" y="3218688"/>
            <a:ext cx="4389120" cy="54864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Minimum Spanning Tree</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Spanning tree with the smallest total weight.</a:t>
            </a:r>
            <a:endParaRPr lang="en-US" sz="1100" dirty="0"/>
          </a:p>
        </p:txBody>
      </p:sp>
      <p:sp>
        <p:nvSpPr>
          <p:cNvPr id="15" name="Text 12"/>
          <p:cNvSpPr txBox="1"/>
          <p:nvPr/>
        </p:nvSpPr>
        <p:spPr>
          <a:xfrm>
            <a:off x="365760" y="3950208"/>
            <a:ext cx="2743200" cy="228600"/>
          </a:xfrm>
          <a:prstGeom prst="rect">
            <a:avLst/>
          </a:prstGeom>
          <a:noFill/>
          <a:ln/>
        </p:spPr>
        <p:txBody>
          <a:bodyPr wrap="square" lIns="0" tIns="0" rIns="0" bIns="0" rtlCol="0" anchor="t"/>
          <a:lstStyle/>
          <a:p>
            <a:pPr indent="0" marL="0">
              <a:buNone/>
            </a:pPr>
            <a:r>
              <a:rPr lang="en-US" sz="1200" b="1" dirty="0">
                <a:solidFill>
                  <a:srgbClr val="A855F7"/>
                </a:solidFill>
                <a:latin typeface="Calibri" pitchFamily="34" charset="0"/>
                <a:ea typeface="Calibri" pitchFamily="34" charset="-122"/>
                <a:cs typeface="Calibri" pitchFamily="34" charset="-120"/>
              </a:rPr>
              <a:t>MST properties</a:t>
            </a:r>
            <a:endParaRPr lang="en-US" sz="1200" dirty="0"/>
          </a:p>
        </p:txBody>
      </p:sp>
      <p:sp>
        <p:nvSpPr>
          <p:cNvPr id="16" name="Text 13"/>
          <p:cNvSpPr txBox="1"/>
          <p:nvPr/>
        </p:nvSpPr>
        <p:spPr>
          <a:xfrm>
            <a:off x="365760" y="4187952"/>
            <a:ext cx="4754880" cy="45720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Connects every vertex  •  No cycles  •  Exactly V - 1 edges  •  Minimum total weight</a:t>
            </a:r>
            <a:endParaRPr lang="en-US" sz="1100" dirty="0"/>
          </a:p>
        </p:txBody>
      </p:sp>
      <p:sp>
        <p:nvSpPr>
          <p:cNvPr id="17" name="Text 14"/>
          <p:cNvSpPr txBox="1"/>
          <p:nvPr/>
        </p:nvSpPr>
        <p:spPr>
          <a:xfrm>
            <a:off x="5577840" y="868680"/>
            <a:ext cx="3200400" cy="228600"/>
          </a:xfrm>
          <a:prstGeom prst="rect">
            <a:avLst/>
          </a:prstGeom>
          <a:noFill/>
          <a:ln/>
        </p:spPr>
        <p:txBody>
          <a:bodyPr wrap="square" lIns="0" tIns="0" rIns="0" bIns="0" rtlCol="0" anchor="t"/>
          <a:lstStyle/>
          <a:p>
            <a:pPr indent="0" marL="0">
              <a:buNone/>
            </a:pPr>
            <a:r>
              <a:rPr lang="en-US" sz="1100" b="1" dirty="0">
                <a:solidFill>
                  <a:srgbClr val="94A3B8"/>
                </a:solidFill>
                <a:latin typeface="Calibri" pitchFamily="34" charset="0"/>
                <a:ea typeface="Calibri" pitchFamily="34" charset="-122"/>
                <a:cs typeface="Calibri" pitchFamily="34" charset="-120"/>
              </a:rPr>
              <a:t>Original graph: 7 edges</a:t>
            </a:r>
            <a:endParaRPr lang="en-US" sz="1100" dirty="0"/>
          </a:p>
        </p:txBody>
      </p:sp>
      <p:sp>
        <p:nvSpPr>
          <p:cNvPr id="18" name="Shape 15"/>
          <p:cNvSpPr/>
          <p:nvPr/>
        </p:nvSpPr>
        <p:spPr>
          <a:xfrm flipV="1">
            <a:off x="5755234" y="1320394"/>
            <a:ext cx="658368" cy="603504"/>
          </a:xfrm>
          <a:prstGeom prst="line">
            <a:avLst/>
          </a:prstGeom>
          <a:noFill/>
          <a:ln w="15875">
            <a:solidFill>
              <a:srgbClr val="475569"/>
            </a:solidFill>
            <a:prstDash val="solid"/>
          </a:ln>
        </p:spPr>
      </p:sp>
      <p:sp>
        <p:nvSpPr>
          <p:cNvPr id="19" name="Text 16"/>
          <p:cNvSpPr txBox="1"/>
          <p:nvPr/>
        </p:nvSpPr>
        <p:spPr>
          <a:xfrm>
            <a:off x="5947258" y="1512418"/>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2</a:t>
            </a:r>
            <a:endParaRPr lang="en-US" sz="800" dirty="0"/>
          </a:p>
        </p:txBody>
      </p:sp>
      <p:sp>
        <p:nvSpPr>
          <p:cNvPr id="20" name="Shape 17"/>
          <p:cNvSpPr/>
          <p:nvPr/>
        </p:nvSpPr>
        <p:spPr>
          <a:xfrm>
            <a:off x="5755234" y="1923898"/>
            <a:ext cx="658368" cy="603504"/>
          </a:xfrm>
          <a:prstGeom prst="line">
            <a:avLst/>
          </a:prstGeom>
          <a:noFill/>
          <a:ln w="15875">
            <a:solidFill>
              <a:srgbClr val="475569"/>
            </a:solidFill>
            <a:prstDash val="solid"/>
          </a:ln>
        </p:spPr>
      </p:sp>
      <p:sp>
        <p:nvSpPr>
          <p:cNvPr id="21" name="Text 18"/>
          <p:cNvSpPr txBox="1"/>
          <p:nvPr/>
        </p:nvSpPr>
        <p:spPr>
          <a:xfrm>
            <a:off x="5947258" y="2115922"/>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3</a:t>
            </a:r>
            <a:endParaRPr lang="en-US" sz="800" dirty="0"/>
          </a:p>
        </p:txBody>
      </p:sp>
      <p:sp>
        <p:nvSpPr>
          <p:cNvPr id="22" name="Shape 19"/>
          <p:cNvSpPr/>
          <p:nvPr/>
        </p:nvSpPr>
        <p:spPr>
          <a:xfrm>
            <a:off x="6413602" y="1320394"/>
            <a:ext cx="0" cy="1207008"/>
          </a:xfrm>
          <a:prstGeom prst="line">
            <a:avLst/>
          </a:prstGeom>
          <a:noFill/>
          <a:ln w="15875">
            <a:solidFill>
              <a:srgbClr val="475569"/>
            </a:solidFill>
            <a:prstDash val="solid"/>
          </a:ln>
        </p:spPr>
      </p:sp>
      <p:sp>
        <p:nvSpPr>
          <p:cNvPr id="23" name="Text 20"/>
          <p:cNvSpPr txBox="1"/>
          <p:nvPr/>
        </p:nvSpPr>
        <p:spPr>
          <a:xfrm>
            <a:off x="6276442" y="1814170"/>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1</a:t>
            </a:r>
            <a:endParaRPr lang="en-US" sz="800" dirty="0"/>
          </a:p>
        </p:txBody>
      </p:sp>
      <p:sp>
        <p:nvSpPr>
          <p:cNvPr id="24" name="Shape 21"/>
          <p:cNvSpPr/>
          <p:nvPr/>
        </p:nvSpPr>
        <p:spPr>
          <a:xfrm>
            <a:off x="6413602" y="1320394"/>
            <a:ext cx="877824" cy="0"/>
          </a:xfrm>
          <a:prstGeom prst="line">
            <a:avLst/>
          </a:prstGeom>
          <a:noFill/>
          <a:ln w="15875">
            <a:solidFill>
              <a:srgbClr val="475569"/>
            </a:solidFill>
            <a:prstDash val="solid"/>
          </a:ln>
        </p:spPr>
      </p:sp>
      <p:sp>
        <p:nvSpPr>
          <p:cNvPr id="25" name="Text 22"/>
          <p:cNvSpPr txBox="1"/>
          <p:nvPr/>
        </p:nvSpPr>
        <p:spPr>
          <a:xfrm>
            <a:off x="6715354" y="1210666"/>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4</a:t>
            </a:r>
            <a:endParaRPr lang="en-US" sz="800" dirty="0"/>
          </a:p>
        </p:txBody>
      </p:sp>
      <p:sp>
        <p:nvSpPr>
          <p:cNvPr id="26" name="Shape 23"/>
          <p:cNvSpPr/>
          <p:nvPr/>
        </p:nvSpPr>
        <p:spPr>
          <a:xfrm flipV="1">
            <a:off x="6413602" y="1320394"/>
            <a:ext cx="877824" cy="1207008"/>
          </a:xfrm>
          <a:prstGeom prst="line">
            <a:avLst/>
          </a:prstGeom>
          <a:noFill/>
          <a:ln w="15875">
            <a:solidFill>
              <a:srgbClr val="475569"/>
            </a:solidFill>
            <a:prstDash val="solid"/>
          </a:ln>
        </p:spPr>
      </p:sp>
      <p:sp>
        <p:nvSpPr>
          <p:cNvPr id="27" name="Text 24"/>
          <p:cNvSpPr txBox="1"/>
          <p:nvPr/>
        </p:nvSpPr>
        <p:spPr>
          <a:xfrm>
            <a:off x="6715354" y="1814170"/>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5</a:t>
            </a:r>
            <a:endParaRPr lang="en-US" sz="800" dirty="0"/>
          </a:p>
        </p:txBody>
      </p:sp>
      <p:sp>
        <p:nvSpPr>
          <p:cNvPr id="28" name="Shape 25"/>
          <p:cNvSpPr/>
          <p:nvPr/>
        </p:nvSpPr>
        <p:spPr>
          <a:xfrm>
            <a:off x="6413602" y="2527402"/>
            <a:ext cx="877824" cy="0"/>
          </a:xfrm>
          <a:prstGeom prst="line">
            <a:avLst/>
          </a:prstGeom>
          <a:noFill/>
          <a:ln w="15875">
            <a:solidFill>
              <a:srgbClr val="475569"/>
            </a:solidFill>
            <a:prstDash val="solid"/>
          </a:ln>
        </p:spPr>
      </p:sp>
      <p:sp>
        <p:nvSpPr>
          <p:cNvPr id="29" name="Text 26"/>
          <p:cNvSpPr txBox="1"/>
          <p:nvPr/>
        </p:nvSpPr>
        <p:spPr>
          <a:xfrm>
            <a:off x="6715354" y="2417674"/>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6</a:t>
            </a:r>
            <a:endParaRPr lang="en-US" sz="800" dirty="0"/>
          </a:p>
        </p:txBody>
      </p:sp>
      <p:sp>
        <p:nvSpPr>
          <p:cNvPr id="30" name="Shape 27"/>
          <p:cNvSpPr/>
          <p:nvPr/>
        </p:nvSpPr>
        <p:spPr>
          <a:xfrm>
            <a:off x="7291426" y="1320394"/>
            <a:ext cx="0" cy="1207008"/>
          </a:xfrm>
          <a:prstGeom prst="line">
            <a:avLst/>
          </a:prstGeom>
          <a:noFill/>
          <a:ln w="15875">
            <a:solidFill>
              <a:srgbClr val="475569"/>
            </a:solidFill>
            <a:prstDash val="solid"/>
          </a:ln>
        </p:spPr>
      </p:sp>
      <p:sp>
        <p:nvSpPr>
          <p:cNvPr id="31" name="Text 28"/>
          <p:cNvSpPr txBox="1"/>
          <p:nvPr/>
        </p:nvSpPr>
        <p:spPr>
          <a:xfrm>
            <a:off x="7154266" y="1814170"/>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2</a:t>
            </a:r>
            <a:endParaRPr lang="en-US" sz="800" dirty="0"/>
          </a:p>
        </p:txBody>
      </p:sp>
      <p:sp>
        <p:nvSpPr>
          <p:cNvPr id="32" name="Text 29"/>
          <p:cNvSpPr/>
          <p:nvPr/>
        </p:nvSpPr>
        <p:spPr>
          <a:xfrm>
            <a:off x="5577840" y="1746504"/>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33" name="Text 30"/>
          <p:cNvSpPr/>
          <p:nvPr/>
        </p:nvSpPr>
        <p:spPr>
          <a:xfrm>
            <a:off x="6236208" y="1143000"/>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34" name="Text 31"/>
          <p:cNvSpPr/>
          <p:nvPr/>
        </p:nvSpPr>
        <p:spPr>
          <a:xfrm>
            <a:off x="6236208" y="2350008"/>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35" name="Text 32"/>
          <p:cNvSpPr/>
          <p:nvPr/>
        </p:nvSpPr>
        <p:spPr>
          <a:xfrm>
            <a:off x="7114032" y="1143000"/>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36" name="Text 33"/>
          <p:cNvSpPr/>
          <p:nvPr/>
        </p:nvSpPr>
        <p:spPr>
          <a:xfrm>
            <a:off x="7114032" y="2350008"/>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E</a:t>
            </a:r>
            <a:endParaRPr lang="en-US" sz="1100" dirty="0"/>
          </a:p>
        </p:txBody>
      </p:sp>
      <p:sp>
        <p:nvSpPr>
          <p:cNvPr id="37" name="Text 34"/>
          <p:cNvSpPr txBox="1"/>
          <p:nvPr/>
        </p:nvSpPr>
        <p:spPr>
          <a:xfrm>
            <a:off x="5577840" y="2788920"/>
            <a:ext cx="3200400" cy="22860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Its MST: 4 edges, total 9</a:t>
            </a:r>
            <a:endParaRPr lang="en-US" sz="1100" dirty="0"/>
          </a:p>
        </p:txBody>
      </p:sp>
      <p:sp>
        <p:nvSpPr>
          <p:cNvPr id="38" name="Shape 35"/>
          <p:cNvSpPr/>
          <p:nvPr/>
        </p:nvSpPr>
        <p:spPr>
          <a:xfrm flipV="1">
            <a:off x="5755234" y="3240634"/>
            <a:ext cx="658368" cy="603504"/>
          </a:xfrm>
          <a:prstGeom prst="line">
            <a:avLst/>
          </a:prstGeom>
          <a:noFill/>
          <a:ln w="44450">
            <a:solidFill>
              <a:srgbClr val="22D3EE"/>
            </a:solidFill>
            <a:prstDash val="solid"/>
          </a:ln>
        </p:spPr>
      </p:sp>
      <p:sp>
        <p:nvSpPr>
          <p:cNvPr id="39" name="Text 36"/>
          <p:cNvSpPr txBox="1"/>
          <p:nvPr/>
        </p:nvSpPr>
        <p:spPr>
          <a:xfrm>
            <a:off x="5947258" y="3432658"/>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2</a:t>
            </a:r>
            <a:endParaRPr lang="en-US" sz="800" dirty="0"/>
          </a:p>
        </p:txBody>
      </p:sp>
      <p:sp>
        <p:nvSpPr>
          <p:cNvPr id="40" name="Shape 37"/>
          <p:cNvSpPr/>
          <p:nvPr/>
        </p:nvSpPr>
        <p:spPr>
          <a:xfrm>
            <a:off x="6413602" y="3240634"/>
            <a:ext cx="0" cy="1207008"/>
          </a:xfrm>
          <a:prstGeom prst="line">
            <a:avLst/>
          </a:prstGeom>
          <a:noFill/>
          <a:ln w="44450">
            <a:solidFill>
              <a:srgbClr val="22D3EE"/>
            </a:solidFill>
            <a:prstDash val="solid"/>
          </a:ln>
        </p:spPr>
      </p:sp>
      <p:sp>
        <p:nvSpPr>
          <p:cNvPr id="41" name="Text 38"/>
          <p:cNvSpPr txBox="1"/>
          <p:nvPr/>
        </p:nvSpPr>
        <p:spPr>
          <a:xfrm>
            <a:off x="6276442" y="3734410"/>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1</a:t>
            </a:r>
            <a:endParaRPr lang="en-US" sz="800" dirty="0"/>
          </a:p>
        </p:txBody>
      </p:sp>
      <p:sp>
        <p:nvSpPr>
          <p:cNvPr id="42" name="Shape 39"/>
          <p:cNvSpPr/>
          <p:nvPr/>
        </p:nvSpPr>
        <p:spPr>
          <a:xfrm>
            <a:off x="6413602" y="3240634"/>
            <a:ext cx="877824" cy="0"/>
          </a:xfrm>
          <a:prstGeom prst="line">
            <a:avLst/>
          </a:prstGeom>
          <a:noFill/>
          <a:ln w="44450">
            <a:solidFill>
              <a:srgbClr val="22D3EE"/>
            </a:solidFill>
            <a:prstDash val="solid"/>
          </a:ln>
        </p:spPr>
      </p:sp>
      <p:sp>
        <p:nvSpPr>
          <p:cNvPr id="43" name="Text 40"/>
          <p:cNvSpPr txBox="1"/>
          <p:nvPr/>
        </p:nvSpPr>
        <p:spPr>
          <a:xfrm>
            <a:off x="6715354" y="3130906"/>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4</a:t>
            </a:r>
            <a:endParaRPr lang="en-US" sz="800" dirty="0"/>
          </a:p>
        </p:txBody>
      </p:sp>
      <p:sp>
        <p:nvSpPr>
          <p:cNvPr id="44" name="Shape 41"/>
          <p:cNvSpPr/>
          <p:nvPr/>
        </p:nvSpPr>
        <p:spPr>
          <a:xfrm>
            <a:off x="7291426" y="3240634"/>
            <a:ext cx="0" cy="1207008"/>
          </a:xfrm>
          <a:prstGeom prst="line">
            <a:avLst/>
          </a:prstGeom>
          <a:noFill/>
          <a:ln w="44450">
            <a:solidFill>
              <a:srgbClr val="22D3EE"/>
            </a:solidFill>
            <a:prstDash val="solid"/>
          </a:ln>
        </p:spPr>
      </p:sp>
      <p:sp>
        <p:nvSpPr>
          <p:cNvPr id="45" name="Text 42"/>
          <p:cNvSpPr txBox="1"/>
          <p:nvPr/>
        </p:nvSpPr>
        <p:spPr>
          <a:xfrm>
            <a:off x="7154266" y="3734410"/>
            <a:ext cx="274320" cy="219456"/>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2</a:t>
            </a:r>
            <a:endParaRPr lang="en-US" sz="800" dirty="0"/>
          </a:p>
        </p:txBody>
      </p:sp>
      <p:sp>
        <p:nvSpPr>
          <p:cNvPr id="46" name="Text 43"/>
          <p:cNvSpPr/>
          <p:nvPr/>
        </p:nvSpPr>
        <p:spPr>
          <a:xfrm>
            <a:off x="5577840" y="3666744"/>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47" name="Text 44"/>
          <p:cNvSpPr/>
          <p:nvPr/>
        </p:nvSpPr>
        <p:spPr>
          <a:xfrm>
            <a:off x="6236208" y="3063240"/>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48" name="Text 45"/>
          <p:cNvSpPr/>
          <p:nvPr/>
        </p:nvSpPr>
        <p:spPr>
          <a:xfrm>
            <a:off x="6236208" y="4270248"/>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49" name="Text 46"/>
          <p:cNvSpPr/>
          <p:nvPr/>
        </p:nvSpPr>
        <p:spPr>
          <a:xfrm>
            <a:off x="7114032" y="3063240"/>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50" name="Text 47"/>
          <p:cNvSpPr/>
          <p:nvPr/>
        </p:nvSpPr>
        <p:spPr>
          <a:xfrm>
            <a:off x="7114032" y="4270248"/>
            <a:ext cx="354787" cy="354787"/>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Introduction to Prim's Algorithm</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3</a:t>
            </a:r>
            <a:endParaRPr lang="en-US" sz="800" dirty="0"/>
          </a:p>
        </p:txBody>
      </p:sp>
      <p:sp>
        <p:nvSpPr>
          <p:cNvPr id="7" name="Text 4"/>
          <p:cNvSpPr txBox="1"/>
          <p:nvPr/>
        </p:nvSpPr>
        <p:spPr>
          <a:xfrm>
            <a:off x="365760" y="914400"/>
            <a:ext cx="4846320" cy="22860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Greedy algorithm for an MST of a connected, undirected, weighted graph</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Starts from a chosen vertex</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Each step: cheapest edge from the tree to an outside vertex</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Add that vertex and edge to the tree</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Stop when all vertices are included</a:t>
            </a:r>
            <a:endParaRPr lang="en-US" sz="1250" dirty="0"/>
          </a:p>
        </p:txBody>
      </p:sp>
      <p:sp>
        <p:nvSpPr>
          <p:cNvPr id="8" name="Shape 5"/>
          <p:cNvSpPr/>
          <p:nvPr/>
        </p:nvSpPr>
        <p:spPr>
          <a:xfrm>
            <a:off x="365760" y="3154680"/>
            <a:ext cx="4846320" cy="731520"/>
          </a:xfrm>
          <a:prstGeom prst="roundRect">
            <a:avLst>
              <a:gd name="adj" fmla="val 10000"/>
            </a:avLst>
          </a:prstGeom>
          <a:solidFill>
            <a:srgbClr val="141B3A"/>
          </a:solidFill>
          <a:ln w="12700">
            <a:solidFill>
              <a:srgbClr val="22D3EE"/>
            </a:solidFill>
            <a:prstDash val="solid"/>
          </a:ln>
        </p:spPr>
      </p:sp>
      <p:sp>
        <p:nvSpPr>
          <p:cNvPr id="9" name="Text 6"/>
          <p:cNvSpPr txBox="1"/>
          <p:nvPr/>
        </p:nvSpPr>
        <p:spPr>
          <a:xfrm>
            <a:off x="502920" y="3218688"/>
            <a:ext cx="4572000" cy="64008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Greedy idea: take the best eligible choice now. Prim picks the cheapest edge that expands the tree without creating a cycle.</a:t>
            </a:r>
            <a:endParaRPr lang="en-US" sz="1100" dirty="0"/>
          </a:p>
        </p:txBody>
      </p:sp>
      <p:sp>
        <p:nvSpPr>
          <p:cNvPr id="10" name="Shape 7"/>
          <p:cNvSpPr/>
          <p:nvPr/>
        </p:nvSpPr>
        <p:spPr>
          <a:xfrm>
            <a:off x="365760" y="3977640"/>
            <a:ext cx="4846320" cy="731520"/>
          </a:xfrm>
          <a:prstGeom prst="roundRect">
            <a:avLst>
              <a:gd name="adj" fmla="val 10000"/>
            </a:avLst>
          </a:prstGeom>
          <a:solidFill>
            <a:srgbClr val="141B3A"/>
          </a:solidFill>
          <a:ln w="12700">
            <a:solidFill>
              <a:srgbClr val="A855F7"/>
            </a:solidFill>
            <a:prstDash val="solid"/>
          </a:ln>
        </p:spPr>
      </p:sp>
      <p:sp>
        <p:nvSpPr>
          <p:cNvPr id="11" name="Text 8"/>
          <p:cNvSpPr txBox="1"/>
          <p:nvPr/>
        </p:nvSpPr>
        <p:spPr>
          <a:xfrm>
            <a:off x="502920" y="4041648"/>
            <a:ext cx="4572000" cy="640080"/>
          </a:xfrm>
          <a:prstGeom prst="rect">
            <a:avLst/>
          </a:prstGeom>
          <a:noFill/>
          <a:ln/>
        </p:spPr>
        <p:txBody>
          <a:bodyPr wrap="square" lIns="0" tIns="0" rIns="0" bIns="0" rtlCol="0" anchor="t"/>
          <a:lstStyle/>
          <a:p>
            <a:pPr indent="0" marL="0">
              <a:buNone/>
            </a:pPr>
            <a:r>
              <a:rPr lang="en-US" sz="1100" b="1" dirty="0">
                <a:solidFill>
                  <a:srgbClr val="A855F7"/>
                </a:solidFill>
                <a:latin typeface="Calibri" pitchFamily="34" charset="0"/>
                <a:ea typeface="Calibri" pitchFamily="34" charset="-122"/>
                <a:cs typeface="Calibri" pitchFamily="34" charset="-120"/>
              </a:rPr>
              <a:t>Prim vs Kruskal: </a:t>
            </a:r>
            <a:pPr indent="0" marL="0">
              <a:buNone/>
            </a:pPr>
            <a:r>
              <a:rPr lang="en-US" sz="1100" dirty="0">
                <a:solidFill>
                  <a:srgbClr val="E2E8F0"/>
                </a:solidFill>
                <a:latin typeface="Calibri" pitchFamily="34" charset="0"/>
                <a:ea typeface="Calibri" pitchFamily="34" charset="-122"/>
                <a:cs typeface="Calibri" pitchFamily="34" charset="-120"/>
              </a:rPr>
              <a:t>Prim grows ONE tree from a start vertex. Kruskal sorts all edges and merges separate components.</a:t>
            </a:r>
            <a:endParaRPr lang="en-US" sz="1100" dirty="0"/>
          </a:p>
        </p:txBody>
      </p:sp>
      <p:sp>
        <p:nvSpPr>
          <p:cNvPr id="12" name="Shape 9"/>
          <p:cNvSpPr/>
          <p:nvPr/>
        </p:nvSpPr>
        <p:spPr>
          <a:xfrm flipV="1">
            <a:off x="5966917" y="1394917"/>
            <a:ext cx="1042416" cy="955548"/>
          </a:xfrm>
          <a:prstGeom prst="line">
            <a:avLst/>
          </a:prstGeom>
          <a:noFill/>
          <a:ln w="44450">
            <a:solidFill>
              <a:srgbClr val="22D3EE"/>
            </a:solidFill>
            <a:prstDash val="solid"/>
          </a:ln>
        </p:spPr>
      </p:sp>
      <p:sp>
        <p:nvSpPr>
          <p:cNvPr id="13" name="Text 10"/>
          <p:cNvSpPr txBox="1"/>
          <p:nvPr/>
        </p:nvSpPr>
        <p:spPr>
          <a:xfrm>
            <a:off x="6302959" y="1724558"/>
            <a:ext cx="370332" cy="296266"/>
          </a:xfrm>
          <a:prstGeom prst="rect">
            <a:avLst/>
          </a:prstGeom>
          <a:solidFill>
            <a:srgbClr val="0B1026"/>
          </a:solidFill>
          <a:ln/>
        </p:spPr>
        <p:txBody>
          <a:bodyPr wrap="square" lIns="0" tIns="0" rIns="0" bIns="0" rtlCol="0" anchor="ctr"/>
          <a:lstStyle/>
          <a:p>
            <a:pPr algn="ctr" indent="0" marL="0">
              <a:buNone/>
            </a:pPr>
            <a:r>
              <a:rPr lang="en-US" sz="1200" b="1" dirty="0">
                <a:solidFill>
                  <a:srgbClr val="22D3EE"/>
                </a:solidFill>
              </a:rPr>
              <a:t>2</a:t>
            </a:r>
            <a:endParaRPr lang="en-US" sz="1200" dirty="0"/>
          </a:p>
        </p:txBody>
      </p:sp>
      <p:sp>
        <p:nvSpPr>
          <p:cNvPr id="14" name="Shape 11"/>
          <p:cNvSpPr/>
          <p:nvPr/>
        </p:nvSpPr>
        <p:spPr>
          <a:xfrm>
            <a:off x="5966917" y="2350465"/>
            <a:ext cx="1042416" cy="955548"/>
          </a:xfrm>
          <a:prstGeom prst="line">
            <a:avLst/>
          </a:prstGeom>
          <a:noFill/>
          <a:ln w="15875">
            <a:solidFill>
              <a:srgbClr val="475569"/>
            </a:solidFill>
            <a:prstDash val="solid"/>
          </a:ln>
        </p:spPr>
      </p:sp>
      <p:sp>
        <p:nvSpPr>
          <p:cNvPr id="15" name="Text 12"/>
          <p:cNvSpPr txBox="1"/>
          <p:nvPr/>
        </p:nvSpPr>
        <p:spPr>
          <a:xfrm>
            <a:off x="6302959" y="2680106"/>
            <a:ext cx="370332" cy="296266"/>
          </a:xfrm>
          <a:prstGeom prst="rect">
            <a:avLst/>
          </a:prstGeom>
          <a:solidFill>
            <a:srgbClr val="0B1026"/>
          </a:solidFill>
          <a:ln/>
        </p:spPr>
        <p:txBody>
          <a:bodyPr wrap="square" lIns="0" tIns="0" rIns="0" bIns="0" rtlCol="0" anchor="ctr"/>
          <a:lstStyle/>
          <a:p>
            <a:pPr algn="ctr" indent="0" marL="0">
              <a:buNone/>
            </a:pPr>
            <a:r>
              <a:rPr lang="en-US" sz="1200" b="1" dirty="0">
                <a:solidFill>
                  <a:srgbClr val="E2E8F0"/>
                </a:solidFill>
              </a:rPr>
              <a:t>3</a:t>
            </a:r>
            <a:endParaRPr lang="en-US" sz="1200" dirty="0"/>
          </a:p>
        </p:txBody>
      </p:sp>
      <p:sp>
        <p:nvSpPr>
          <p:cNvPr id="16" name="Shape 13"/>
          <p:cNvSpPr/>
          <p:nvPr/>
        </p:nvSpPr>
        <p:spPr>
          <a:xfrm>
            <a:off x="7009333" y="1394917"/>
            <a:ext cx="0" cy="1911096"/>
          </a:xfrm>
          <a:prstGeom prst="line">
            <a:avLst/>
          </a:prstGeom>
          <a:noFill/>
          <a:ln w="15875">
            <a:solidFill>
              <a:srgbClr val="475569"/>
            </a:solidFill>
            <a:prstDash val="solid"/>
          </a:ln>
        </p:spPr>
      </p:sp>
      <p:sp>
        <p:nvSpPr>
          <p:cNvPr id="17" name="Text 14"/>
          <p:cNvSpPr txBox="1"/>
          <p:nvPr/>
        </p:nvSpPr>
        <p:spPr>
          <a:xfrm>
            <a:off x="6824167" y="2202332"/>
            <a:ext cx="370332" cy="296266"/>
          </a:xfrm>
          <a:prstGeom prst="rect">
            <a:avLst/>
          </a:prstGeom>
          <a:solidFill>
            <a:srgbClr val="0B1026"/>
          </a:solidFill>
          <a:ln/>
        </p:spPr>
        <p:txBody>
          <a:bodyPr wrap="square" lIns="0" tIns="0" rIns="0" bIns="0" rtlCol="0" anchor="ctr"/>
          <a:lstStyle/>
          <a:p>
            <a:pPr algn="ctr" indent="0" marL="0">
              <a:buNone/>
            </a:pPr>
            <a:r>
              <a:rPr lang="en-US" sz="1200" b="1" dirty="0">
                <a:solidFill>
                  <a:srgbClr val="E2E8F0"/>
                </a:solidFill>
              </a:rPr>
              <a:t>1</a:t>
            </a:r>
            <a:endParaRPr lang="en-US" sz="1200" dirty="0"/>
          </a:p>
        </p:txBody>
      </p:sp>
      <p:sp>
        <p:nvSpPr>
          <p:cNvPr id="18" name="Shape 15"/>
          <p:cNvSpPr/>
          <p:nvPr/>
        </p:nvSpPr>
        <p:spPr>
          <a:xfrm>
            <a:off x="7009333" y="1394917"/>
            <a:ext cx="1389888" cy="0"/>
          </a:xfrm>
          <a:prstGeom prst="line">
            <a:avLst/>
          </a:prstGeom>
          <a:noFill/>
          <a:ln w="15875">
            <a:solidFill>
              <a:srgbClr val="475569"/>
            </a:solidFill>
            <a:prstDash val="solid"/>
          </a:ln>
        </p:spPr>
      </p:sp>
      <p:sp>
        <p:nvSpPr>
          <p:cNvPr id="19" name="Text 16"/>
          <p:cNvSpPr txBox="1"/>
          <p:nvPr/>
        </p:nvSpPr>
        <p:spPr>
          <a:xfrm>
            <a:off x="7519111" y="1246784"/>
            <a:ext cx="370332" cy="296266"/>
          </a:xfrm>
          <a:prstGeom prst="rect">
            <a:avLst/>
          </a:prstGeom>
          <a:solidFill>
            <a:srgbClr val="0B1026"/>
          </a:solidFill>
          <a:ln/>
        </p:spPr>
        <p:txBody>
          <a:bodyPr wrap="square" lIns="0" tIns="0" rIns="0" bIns="0" rtlCol="0" anchor="ctr"/>
          <a:lstStyle/>
          <a:p>
            <a:pPr algn="ctr" indent="0" marL="0">
              <a:buNone/>
            </a:pPr>
            <a:r>
              <a:rPr lang="en-US" sz="1200" b="1" dirty="0">
                <a:solidFill>
                  <a:srgbClr val="E2E8F0"/>
                </a:solidFill>
              </a:rPr>
              <a:t>4</a:t>
            </a:r>
            <a:endParaRPr lang="en-US" sz="1200" dirty="0"/>
          </a:p>
        </p:txBody>
      </p:sp>
      <p:sp>
        <p:nvSpPr>
          <p:cNvPr id="20" name="Shape 17"/>
          <p:cNvSpPr/>
          <p:nvPr/>
        </p:nvSpPr>
        <p:spPr>
          <a:xfrm flipV="1">
            <a:off x="7009333" y="1394917"/>
            <a:ext cx="1389888" cy="1911096"/>
          </a:xfrm>
          <a:prstGeom prst="line">
            <a:avLst/>
          </a:prstGeom>
          <a:noFill/>
          <a:ln w="15875">
            <a:solidFill>
              <a:srgbClr val="475569"/>
            </a:solidFill>
            <a:prstDash val="solid"/>
          </a:ln>
        </p:spPr>
      </p:sp>
      <p:sp>
        <p:nvSpPr>
          <p:cNvPr id="21" name="Text 18"/>
          <p:cNvSpPr txBox="1"/>
          <p:nvPr/>
        </p:nvSpPr>
        <p:spPr>
          <a:xfrm>
            <a:off x="7519111" y="2202332"/>
            <a:ext cx="370332" cy="296266"/>
          </a:xfrm>
          <a:prstGeom prst="rect">
            <a:avLst/>
          </a:prstGeom>
          <a:solidFill>
            <a:srgbClr val="0B1026"/>
          </a:solidFill>
          <a:ln/>
        </p:spPr>
        <p:txBody>
          <a:bodyPr wrap="square" lIns="0" tIns="0" rIns="0" bIns="0" rtlCol="0" anchor="ctr"/>
          <a:lstStyle/>
          <a:p>
            <a:pPr algn="ctr" indent="0" marL="0">
              <a:buNone/>
            </a:pPr>
            <a:r>
              <a:rPr lang="en-US" sz="1200" b="1" dirty="0">
                <a:solidFill>
                  <a:srgbClr val="E2E8F0"/>
                </a:solidFill>
              </a:rPr>
              <a:t>5</a:t>
            </a:r>
            <a:endParaRPr lang="en-US" sz="1200" dirty="0"/>
          </a:p>
        </p:txBody>
      </p:sp>
      <p:sp>
        <p:nvSpPr>
          <p:cNvPr id="22" name="Shape 19"/>
          <p:cNvSpPr/>
          <p:nvPr/>
        </p:nvSpPr>
        <p:spPr>
          <a:xfrm>
            <a:off x="7009333" y="3306013"/>
            <a:ext cx="1389888" cy="0"/>
          </a:xfrm>
          <a:prstGeom prst="line">
            <a:avLst/>
          </a:prstGeom>
          <a:noFill/>
          <a:ln w="15875">
            <a:solidFill>
              <a:srgbClr val="475569"/>
            </a:solidFill>
            <a:prstDash val="solid"/>
          </a:ln>
        </p:spPr>
      </p:sp>
      <p:sp>
        <p:nvSpPr>
          <p:cNvPr id="23" name="Text 20"/>
          <p:cNvSpPr txBox="1"/>
          <p:nvPr/>
        </p:nvSpPr>
        <p:spPr>
          <a:xfrm>
            <a:off x="7519111" y="3157880"/>
            <a:ext cx="370332" cy="296266"/>
          </a:xfrm>
          <a:prstGeom prst="rect">
            <a:avLst/>
          </a:prstGeom>
          <a:solidFill>
            <a:srgbClr val="0B1026"/>
          </a:solidFill>
          <a:ln/>
        </p:spPr>
        <p:txBody>
          <a:bodyPr wrap="square" lIns="0" tIns="0" rIns="0" bIns="0" rtlCol="0" anchor="ctr"/>
          <a:lstStyle/>
          <a:p>
            <a:pPr algn="ctr" indent="0" marL="0">
              <a:buNone/>
            </a:pPr>
            <a:r>
              <a:rPr lang="en-US" sz="1200" b="1" dirty="0">
                <a:solidFill>
                  <a:srgbClr val="E2E8F0"/>
                </a:solidFill>
              </a:rPr>
              <a:t>6</a:t>
            </a:r>
            <a:endParaRPr lang="en-US" sz="1200" dirty="0"/>
          </a:p>
        </p:txBody>
      </p:sp>
      <p:sp>
        <p:nvSpPr>
          <p:cNvPr id="24" name="Shape 21"/>
          <p:cNvSpPr/>
          <p:nvPr/>
        </p:nvSpPr>
        <p:spPr>
          <a:xfrm>
            <a:off x="8399221" y="1394917"/>
            <a:ext cx="0" cy="1911096"/>
          </a:xfrm>
          <a:prstGeom prst="line">
            <a:avLst/>
          </a:prstGeom>
          <a:noFill/>
          <a:ln w="15875">
            <a:solidFill>
              <a:srgbClr val="475569"/>
            </a:solidFill>
            <a:prstDash val="solid"/>
          </a:ln>
        </p:spPr>
      </p:sp>
      <p:sp>
        <p:nvSpPr>
          <p:cNvPr id="25" name="Text 22"/>
          <p:cNvSpPr txBox="1"/>
          <p:nvPr/>
        </p:nvSpPr>
        <p:spPr>
          <a:xfrm>
            <a:off x="8214055" y="2202332"/>
            <a:ext cx="370332" cy="296266"/>
          </a:xfrm>
          <a:prstGeom prst="rect">
            <a:avLst/>
          </a:prstGeom>
          <a:solidFill>
            <a:srgbClr val="0B1026"/>
          </a:solidFill>
          <a:ln/>
        </p:spPr>
        <p:txBody>
          <a:bodyPr wrap="square" lIns="0" tIns="0" rIns="0" bIns="0" rtlCol="0" anchor="ctr"/>
          <a:lstStyle/>
          <a:p>
            <a:pPr algn="ctr" indent="0" marL="0">
              <a:buNone/>
            </a:pPr>
            <a:r>
              <a:rPr lang="en-US" sz="1200" b="1" dirty="0">
                <a:solidFill>
                  <a:srgbClr val="E2E8F0"/>
                </a:solidFill>
              </a:rPr>
              <a:t>2</a:t>
            </a:r>
            <a:endParaRPr lang="en-US" sz="1200" dirty="0"/>
          </a:p>
        </p:txBody>
      </p:sp>
      <p:sp>
        <p:nvSpPr>
          <p:cNvPr id="26" name="Text 23"/>
          <p:cNvSpPr/>
          <p:nvPr/>
        </p:nvSpPr>
        <p:spPr>
          <a:xfrm>
            <a:off x="5760720" y="2144268"/>
            <a:ext cx="412394" cy="412394"/>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500" b="1" dirty="0">
                <a:solidFill>
                  <a:srgbClr val="FFFFFF"/>
                </a:solidFill>
              </a:rPr>
              <a:t>A</a:t>
            </a:r>
            <a:endParaRPr lang="en-US" sz="1500" dirty="0"/>
          </a:p>
        </p:txBody>
      </p:sp>
      <p:sp>
        <p:nvSpPr>
          <p:cNvPr id="27" name="Text 24"/>
          <p:cNvSpPr/>
          <p:nvPr/>
        </p:nvSpPr>
        <p:spPr>
          <a:xfrm>
            <a:off x="6803136" y="1188720"/>
            <a:ext cx="412394" cy="412394"/>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500" b="1" dirty="0">
                <a:solidFill>
                  <a:srgbClr val="FFFFFF"/>
                </a:solidFill>
              </a:rPr>
              <a:t>B</a:t>
            </a:r>
            <a:endParaRPr lang="en-US" sz="1500" dirty="0"/>
          </a:p>
        </p:txBody>
      </p:sp>
      <p:sp>
        <p:nvSpPr>
          <p:cNvPr id="28" name="Text 25"/>
          <p:cNvSpPr/>
          <p:nvPr/>
        </p:nvSpPr>
        <p:spPr>
          <a:xfrm>
            <a:off x="6803136" y="3099816"/>
            <a:ext cx="412394" cy="412394"/>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500" b="1" dirty="0">
                <a:solidFill>
                  <a:srgbClr val="FFFFFF"/>
                </a:solidFill>
              </a:rPr>
              <a:t>C</a:t>
            </a:r>
            <a:endParaRPr lang="en-US" sz="1500" dirty="0"/>
          </a:p>
        </p:txBody>
      </p:sp>
      <p:sp>
        <p:nvSpPr>
          <p:cNvPr id="29" name="Text 26"/>
          <p:cNvSpPr/>
          <p:nvPr/>
        </p:nvSpPr>
        <p:spPr>
          <a:xfrm>
            <a:off x="8193024" y="1188720"/>
            <a:ext cx="412394" cy="412394"/>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500" b="1" dirty="0">
                <a:solidFill>
                  <a:srgbClr val="FFFFFF"/>
                </a:solidFill>
              </a:rPr>
              <a:t>D</a:t>
            </a:r>
            <a:endParaRPr lang="en-US" sz="1500" dirty="0"/>
          </a:p>
        </p:txBody>
      </p:sp>
      <p:sp>
        <p:nvSpPr>
          <p:cNvPr id="30" name="Text 27"/>
          <p:cNvSpPr/>
          <p:nvPr/>
        </p:nvSpPr>
        <p:spPr>
          <a:xfrm>
            <a:off x="8193024" y="3099816"/>
            <a:ext cx="412394" cy="412394"/>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500" b="1" dirty="0">
                <a:solidFill>
                  <a:srgbClr val="FFFFFF"/>
                </a:solidFill>
              </a:rPr>
              <a:t>E</a:t>
            </a:r>
            <a:endParaRPr lang="en-US" sz="1500" dirty="0"/>
          </a:p>
        </p:txBody>
      </p:sp>
      <p:sp>
        <p:nvSpPr>
          <p:cNvPr id="31" name="Text 28"/>
          <p:cNvSpPr txBox="1"/>
          <p:nvPr/>
        </p:nvSpPr>
        <p:spPr>
          <a:xfrm>
            <a:off x="5760720" y="3794760"/>
            <a:ext cx="3017520" cy="45720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Start at A; cheapest edge A-B (2) is chosen first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Working of Prim's Algorithm</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4</a:t>
            </a:r>
            <a:endParaRPr lang="en-US" sz="800" dirty="0"/>
          </a:p>
        </p:txBody>
      </p:sp>
      <p:sp>
        <p:nvSpPr>
          <p:cNvPr id="7" name="Text 4"/>
          <p:cNvSpPr txBox="1"/>
          <p:nvPr/>
        </p:nvSpPr>
        <p:spPr>
          <a:xfrm>
            <a:off x="365760" y="914400"/>
            <a:ext cx="4754880" cy="3657600"/>
          </a:xfrm>
          <a:prstGeom prst="rect">
            <a:avLst/>
          </a:prstGeom>
          <a:noFill/>
          <a:ln/>
        </p:spPr>
        <p:txBody>
          <a:bodyPr wrap="square" lIns="0" tIns="0" rIns="0" bIns="0" rtlCol="0" anchor="t"/>
          <a:lstStyle/>
          <a:p>
            <a:pPr indent="0" marL="0">
              <a:spcAft>
                <a:spcPts val="700"/>
              </a:spcAft>
              <a:buNone/>
            </a:pPr>
            <a:r>
              <a:rPr lang="en-US" sz="1200" dirty="0">
                <a:solidFill>
                  <a:srgbClr val="E2E8F0"/>
                </a:solidFill>
                <a:latin typeface="Calibri" pitchFamily="34" charset="0"/>
                <a:ea typeface="Calibri" pitchFamily="34" charset="-122"/>
                <a:cs typeface="Calibri" pitchFamily="34" charset="-120"/>
              </a:rPr>
              <a:t>1. Select a starting vertex</a:t>
            </a:r>
            <a:endParaRPr lang="en-US" sz="1200" dirty="0"/>
          </a:p>
          <a:p>
            <a:pPr indent="0" marL="0">
              <a:spcAft>
                <a:spcPts val="700"/>
              </a:spcAft>
              <a:buNone/>
            </a:pPr>
            <a:r>
              <a:rPr lang="en-US" sz="1200" dirty="0">
                <a:solidFill>
                  <a:srgbClr val="E2E8F0"/>
                </a:solidFill>
                <a:latin typeface="Calibri" pitchFamily="34" charset="0"/>
                <a:ea typeface="Calibri" pitchFamily="34" charset="-122"/>
                <a:cs typeface="Calibri" pitchFamily="34" charset="-120"/>
              </a:rPr>
              <a:t>2. Mark it as included in the MST</a:t>
            </a:r>
            <a:endParaRPr lang="en-US" sz="1200" dirty="0"/>
          </a:p>
          <a:p>
            <a:pPr indent="0" marL="0">
              <a:spcAft>
                <a:spcPts val="700"/>
              </a:spcAft>
              <a:buNone/>
            </a:pPr>
            <a:r>
              <a:rPr lang="en-US" sz="1200" dirty="0">
                <a:solidFill>
                  <a:srgbClr val="E2E8F0"/>
                </a:solidFill>
                <a:latin typeface="Calibri" pitchFamily="34" charset="0"/>
                <a:ea typeface="Calibri" pitchFamily="34" charset="-122"/>
                <a:cs typeface="Calibri" pitchFamily="34" charset="-120"/>
              </a:rPr>
              <a:t>3. Find the minimum-weight edge from an included vertex to an unvisited vertex</a:t>
            </a:r>
            <a:endParaRPr lang="en-US" sz="1200" dirty="0"/>
          </a:p>
          <a:p>
            <a:pPr indent="0" marL="0">
              <a:spcAft>
                <a:spcPts val="700"/>
              </a:spcAft>
              <a:buNone/>
            </a:pPr>
            <a:r>
              <a:rPr lang="en-US" sz="1200" dirty="0">
                <a:solidFill>
                  <a:srgbClr val="E2E8F0"/>
                </a:solidFill>
                <a:latin typeface="Calibri" pitchFamily="34" charset="0"/>
                <a:ea typeface="Calibri" pitchFamily="34" charset="-122"/>
                <a:cs typeface="Calibri" pitchFamily="34" charset="-120"/>
              </a:rPr>
              <a:t>4. Add that edge and new vertex to the MST</a:t>
            </a:r>
            <a:endParaRPr lang="en-US" sz="1200" dirty="0"/>
          </a:p>
          <a:p>
            <a:pPr indent="0" marL="0">
              <a:spcAft>
                <a:spcPts val="700"/>
              </a:spcAft>
              <a:buNone/>
            </a:pPr>
            <a:r>
              <a:rPr lang="en-US" sz="1200" dirty="0">
                <a:solidFill>
                  <a:srgbClr val="E2E8F0"/>
                </a:solidFill>
                <a:latin typeface="Calibri" pitchFamily="34" charset="0"/>
                <a:ea typeface="Calibri" pitchFamily="34" charset="-122"/>
                <a:cs typeface="Calibri" pitchFamily="34" charset="-120"/>
              </a:rPr>
              <a:t>5. Update the minimum known connection cost of neighbouring unvisited vertices</a:t>
            </a:r>
            <a:endParaRPr lang="en-US" sz="1200" dirty="0"/>
          </a:p>
          <a:p>
            <a:pPr indent="0" marL="0">
              <a:spcAft>
                <a:spcPts val="700"/>
              </a:spcAft>
              <a:buNone/>
            </a:pPr>
            <a:r>
              <a:rPr lang="en-US" sz="1200" dirty="0">
                <a:solidFill>
                  <a:srgbClr val="E2E8F0"/>
                </a:solidFill>
                <a:latin typeface="Calibri" pitchFamily="34" charset="0"/>
                <a:ea typeface="Calibri" pitchFamily="34" charset="-122"/>
                <a:cs typeface="Calibri" pitchFamily="34" charset="-120"/>
              </a:rPr>
              <a:t>6. Repeat until all vertices are included</a:t>
            </a:r>
            <a:endParaRPr lang="en-US" sz="1200" dirty="0"/>
          </a:p>
          <a:p>
            <a:pPr indent="0" marL="0">
              <a:spcAft>
                <a:spcPts val="700"/>
              </a:spcAft>
              <a:buNone/>
            </a:pPr>
            <a:r>
              <a:rPr lang="en-US" sz="1200" dirty="0">
                <a:solidFill>
                  <a:srgbClr val="E2E8F0"/>
                </a:solidFill>
                <a:latin typeface="Calibri" pitchFamily="34" charset="0"/>
                <a:ea typeface="Calibri" pitchFamily="34" charset="-122"/>
                <a:cs typeface="Calibri" pitchFamily="34" charset="-120"/>
              </a:rPr>
              <a:t>7. Display MST edges and total weight</a:t>
            </a:r>
            <a:endParaRPr lang="en-US" sz="1200" dirty="0"/>
          </a:p>
        </p:txBody>
      </p:sp>
      <p:sp>
        <p:nvSpPr>
          <p:cNvPr id="8" name="Text 5"/>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9" name="Text 6"/>
          <p:cNvSpPr/>
          <p:nvPr/>
        </p:nvSpPr>
        <p:spPr>
          <a:xfrm>
            <a:off x="5760720" y="868680"/>
            <a:ext cx="2377440" cy="310896"/>
          </a:xfrm>
          <a:prstGeom prst="roundRect">
            <a:avLst>
              <a:gd name="adj" fmla="val 50000"/>
            </a:avLst>
          </a:prstGeom>
          <a:solidFill>
            <a:srgbClr val="22D3EE"/>
          </a:solidFill>
          <a:ln w="12700">
            <a:solidFill>
              <a:srgbClr val="22D3EE"/>
            </a:solidFill>
          </a:ln>
        </p:spPr>
        <p:txBody>
          <a:bodyPr wrap="square" lIns="0" tIns="0" rIns="0" bIns="0" rtlCol="0" anchor="ctr"/>
          <a:lstStyle/>
          <a:p>
            <a:pPr algn="ctr" indent="0" marL="0">
              <a:buNone/>
            </a:pPr>
            <a:r>
              <a:rPr lang="en-US" sz="900" b="1" dirty="0">
                <a:solidFill>
                  <a:srgbClr val="FFFFFF"/>
                </a:solidFill>
              </a:rPr>
              <a:t>START</a:t>
            </a:r>
            <a:endParaRPr lang="en-US" sz="900" dirty="0"/>
          </a:p>
        </p:txBody>
      </p:sp>
      <p:sp>
        <p:nvSpPr>
          <p:cNvPr id="10" name="Shape 7"/>
          <p:cNvSpPr/>
          <p:nvPr/>
        </p:nvSpPr>
        <p:spPr>
          <a:xfrm>
            <a:off x="6949440" y="1179576"/>
            <a:ext cx="0" cy="118872"/>
          </a:xfrm>
          <a:prstGeom prst="line">
            <a:avLst/>
          </a:prstGeom>
          <a:noFill/>
          <a:ln w="15875">
            <a:solidFill>
              <a:srgbClr val="94A3B8"/>
            </a:solidFill>
            <a:prstDash val="solid"/>
            <a:tailEnd type="triangle"/>
          </a:ln>
        </p:spPr>
      </p:sp>
      <p:sp>
        <p:nvSpPr>
          <p:cNvPr id="11" name="Text 8"/>
          <p:cNvSpPr/>
          <p:nvPr/>
        </p:nvSpPr>
        <p:spPr>
          <a:xfrm>
            <a:off x="5760720" y="1298448"/>
            <a:ext cx="2377440" cy="310896"/>
          </a:xfrm>
          <a:prstGeom prst="rect">
            <a:avLst>
              <a:gd name="adj" fmla="val 50000"/>
            </a:avLst>
          </a:prstGeom>
          <a:solidFill>
            <a:srgbClr val="3B82F6"/>
          </a:solidFill>
          <a:ln w="12700">
            <a:solidFill>
              <a:srgbClr val="22D3EE"/>
            </a:solidFill>
          </a:ln>
        </p:spPr>
        <p:txBody>
          <a:bodyPr wrap="square" lIns="0" tIns="0" rIns="0" bIns="0" rtlCol="0" anchor="ctr"/>
          <a:lstStyle/>
          <a:p>
            <a:pPr algn="ctr" indent="0" marL="0">
              <a:buNone/>
            </a:pPr>
            <a:r>
              <a:rPr lang="en-US" sz="900" b="1" dirty="0">
                <a:solidFill>
                  <a:srgbClr val="FFFFFF"/>
                </a:solidFill>
              </a:rPr>
              <a:t>Initialize key, parent, visited</a:t>
            </a:r>
            <a:endParaRPr lang="en-US" sz="900" dirty="0"/>
          </a:p>
        </p:txBody>
      </p:sp>
      <p:sp>
        <p:nvSpPr>
          <p:cNvPr id="12" name="Shape 9"/>
          <p:cNvSpPr/>
          <p:nvPr/>
        </p:nvSpPr>
        <p:spPr>
          <a:xfrm>
            <a:off x="6949440" y="1609344"/>
            <a:ext cx="0" cy="118872"/>
          </a:xfrm>
          <a:prstGeom prst="line">
            <a:avLst/>
          </a:prstGeom>
          <a:noFill/>
          <a:ln w="15875">
            <a:solidFill>
              <a:srgbClr val="94A3B8"/>
            </a:solidFill>
            <a:prstDash val="solid"/>
            <a:tailEnd type="triangle"/>
          </a:ln>
        </p:spPr>
      </p:sp>
      <p:sp>
        <p:nvSpPr>
          <p:cNvPr id="13" name="Text 10"/>
          <p:cNvSpPr/>
          <p:nvPr/>
        </p:nvSpPr>
        <p:spPr>
          <a:xfrm>
            <a:off x="5760720" y="1728216"/>
            <a:ext cx="2377440" cy="310896"/>
          </a:xfrm>
          <a:prstGeom prst="rect">
            <a:avLst>
              <a:gd name="adj" fmla="val 50000"/>
            </a:avLst>
          </a:prstGeom>
          <a:solidFill>
            <a:srgbClr val="3B82F6"/>
          </a:solidFill>
          <a:ln w="12700">
            <a:solidFill>
              <a:srgbClr val="22D3EE"/>
            </a:solidFill>
          </a:ln>
        </p:spPr>
        <p:txBody>
          <a:bodyPr wrap="square" lIns="0" tIns="0" rIns="0" bIns="0" rtlCol="0" anchor="ctr"/>
          <a:lstStyle/>
          <a:p>
            <a:pPr algn="ctr" indent="0" marL="0">
              <a:buNone/>
            </a:pPr>
            <a:r>
              <a:rPr lang="en-US" sz="900" b="1" dirty="0">
                <a:solidFill>
                  <a:srgbClr val="FFFFFF"/>
                </a:solidFill>
              </a:rPr>
              <a:t>Choose the starting vertex</a:t>
            </a:r>
            <a:endParaRPr lang="en-US" sz="900" dirty="0"/>
          </a:p>
        </p:txBody>
      </p:sp>
      <p:sp>
        <p:nvSpPr>
          <p:cNvPr id="14" name="Shape 11"/>
          <p:cNvSpPr/>
          <p:nvPr/>
        </p:nvSpPr>
        <p:spPr>
          <a:xfrm>
            <a:off x="6949440" y="2039112"/>
            <a:ext cx="0" cy="118872"/>
          </a:xfrm>
          <a:prstGeom prst="line">
            <a:avLst/>
          </a:prstGeom>
          <a:noFill/>
          <a:ln w="15875">
            <a:solidFill>
              <a:srgbClr val="94A3B8"/>
            </a:solidFill>
            <a:prstDash val="solid"/>
            <a:tailEnd type="triangle"/>
          </a:ln>
        </p:spPr>
      </p:sp>
      <p:sp>
        <p:nvSpPr>
          <p:cNvPr id="15" name="Text 12"/>
          <p:cNvSpPr/>
          <p:nvPr/>
        </p:nvSpPr>
        <p:spPr>
          <a:xfrm>
            <a:off x="5760720" y="2157984"/>
            <a:ext cx="2377440" cy="310896"/>
          </a:xfrm>
          <a:prstGeom prst="rect">
            <a:avLst>
              <a:gd name="adj" fmla="val 50000"/>
            </a:avLst>
          </a:prstGeom>
          <a:solidFill>
            <a:srgbClr val="3B82F6"/>
          </a:solidFill>
          <a:ln w="12700">
            <a:solidFill>
              <a:srgbClr val="22D3EE"/>
            </a:solidFill>
          </a:ln>
        </p:spPr>
        <p:txBody>
          <a:bodyPr wrap="square" lIns="0" tIns="0" rIns="0" bIns="0" rtlCol="0" anchor="ctr"/>
          <a:lstStyle/>
          <a:p>
            <a:pPr algn="ctr" indent="0" marL="0">
              <a:buNone/>
            </a:pPr>
            <a:r>
              <a:rPr lang="en-US" sz="900" b="1" dirty="0">
                <a:solidFill>
                  <a:srgbClr val="FFFFFF"/>
                </a:solidFill>
              </a:rPr>
              <a:t>Find unvisited vertex with smallest key</a:t>
            </a:r>
            <a:endParaRPr lang="en-US" sz="900" dirty="0"/>
          </a:p>
        </p:txBody>
      </p:sp>
      <p:sp>
        <p:nvSpPr>
          <p:cNvPr id="16" name="Shape 13"/>
          <p:cNvSpPr/>
          <p:nvPr/>
        </p:nvSpPr>
        <p:spPr>
          <a:xfrm>
            <a:off x="6949440" y="2468880"/>
            <a:ext cx="0" cy="118872"/>
          </a:xfrm>
          <a:prstGeom prst="line">
            <a:avLst/>
          </a:prstGeom>
          <a:noFill/>
          <a:ln w="15875">
            <a:solidFill>
              <a:srgbClr val="94A3B8"/>
            </a:solidFill>
            <a:prstDash val="solid"/>
            <a:tailEnd type="triangle"/>
          </a:ln>
        </p:spPr>
      </p:sp>
      <p:sp>
        <p:nvSpPr>
          <p:cNvPr id="17" name="Text 14"/>
          <p:cNvSpPr/>
          <p:nvPr/>
        </p:nvSpPr>
        <p:spPr>
          <a:xfrm>
            <a:off x="5760720" y="2587752"/>
            <a:ext cx="2377440" cy="310896"/>
          </a:xfrm>
          <a:prstGeom prst="rect">
            <a:avLst>
              <a:gd name="adj" fmla="val 50000"/>
            </a:avLst>
          </a:prstGeom>
          <a:solidFill>
            <a:srgbClr val="3B82F6"/>
          </a:solidFill>
          <a:ln w="12700">
            <a:solidFill>
              <a:srgbClr val="22D3EE"/>
            </a:solidFill>
          </a:ln>
        </p:spPr>
        <p:txBody>
          <a:bodyPr wrap="square" lIns="0" tIns="0" rIns="0" bIns="0" rtlCol="0" anchor="ctr"/>
          <a:lstStyle/>
          <a:p>
            <a:pPr algn="ctr" indent="0" marL="0">
              <a:buNone/>
            </a:pPr>
            <a:r>
              <a:rPr lang="en-US" sz="900" b="1" dirty="0">
                <a:solidFill>
                  <a:srgbClr val="FFFFFF"/>
                </a:solidFill>
              </a:rPr>
              <a:t>Include the vertex in the MST</a:t>
            </a:r>
            <a:endParaRPr lang="en-US" sz="900" dirty="0"/>
          </a:p>
        </p:txBody>
      </p:sp>
      <p:sp>
        <p:nvSpPr>
          <p:cNvPr id="18" name="Shape 15"/>
          <p:cNvSpPr/>
          <p:nvPr/>
        </p:nvSpPr>
        <p:spPr>
          <a:xfrm>
            <a:off x="6949440" y="2898648"/>
            <a:ext cx="0" cy="118872"/>
          </a:xfrm>
          <a:prstGeom prst="line">
            <a:avLst/>
          </a:prstGeom>
          <a:noFill/>
          <a:ln w="15875">
            <a:solidFill>
              <a:srgbClr val="94A3B8"/>
            </a:solidFill>
            <a:prstDash val="solid"/>
            <a:tailEnd type="triangle"/>
          </a:ln>
        </p:spPr>
      </p:sp>
      <p:sp>
        <p:nvSpPr>
          <p:cNvPr id="19" name="Text 16"/>
          <p:cNvSpPr/>
          <p:nvPr/>
        </p:nvSpPr>
        <p:spPr>
          <a:xfrm>
            <a:off x="5760720" y="3017520"/>
            <a:ext cx="2377440" cy="310896"/>
          </a:xfrm>
          <a:prstGeom prst="rect">
            <a:avLst>
              <a:gd name="adj" fmla="val 50000"/>
            </a:avLst>
          </a:prstGeom>
          <a:solidFill>
            <a:srgbClr val="3B82F6"/>
          </a:solidFill>
          <a:ln w="12700">
            <a:solidFill>
              <a:srgbClr val="22D3EE"/>
            </a:solidFill>
          </a:ln>
        </p:spPr>
        <p:txBody>
          <a:bodyPr wrap="square" lIns="0" tIns="0" rIns="0" bIns="0" rtlCol="0" anchor="ctr"/>
          <a:lstStyle/>
          <a:p>
            <a:pPr algn="ctr" indent="0" marL="0">
              <a:buNone/>
            </a:pPr>
            <a:r>
              <a:rPr lang="en-US" sz="900" b="1" dirty="0">
                <a:solidFill>
                  <a:srgbClr val="FFFFFF"/>
                </a:solidFill>
              </a:rPr>
              <a:t>Update neighbouring vertices</a:t>
            </a:r>
            <a:endParaRPr lang="en-US" sz="900" dirty="0"/>
          </a:p>
        </p:txBody>
      </p:sp>
      <p:sp>
        <p:nvSpPr>
          <p:cNvPr id="20" name="Shape 17"/>
          <p:cNvSpPr/>
          <p:nvPr/>
        </p:nvSpPr>
        <p:spPr>
          <a:xfrm>
            <a:off x="6949440" y="3328416"/>
            <a:ext cx="0" cy="118872"/>
          </a:xfrm>
          <a:prstGeom prst="line">
            <a:avLst/>
          </a:prstGeom>
          <a:noFill/>
          <a:ln w="15875">
            <a:solidFill>
              <a:srgbClr val="94A3B8"/>
            </a:solidFill>
            <a:prstDash val="solid"/>
            <a:tailEnd type="triangle"/>
          </a:ln>
        </p:spPr>
      </p:sp>
      <p:sp>
        <p:nvSpPr>
          <p:cNvPr id="21" name="Text 18"/>
          <p:cNvSpPr/>
          <p:nvPr/>
        </p:nvSpPr>
        <p:spPr>
          <a:xfrm>
            <a:off x="5760720" y="3447288"/>
            <a:ext cx="2377440" cy="310896"/>
          </a:xfrm>
          <a:prstGeom prst="rect">
            <a:avLst>
              <a:gd name="adj" fmla="val 50000"/>
            </a:avLst>
          </a:prstGeom>
          <a:solidFill>
            <a:srgbClr val="A855F7"/>
          </a:solidFill>
          <a:ln w="12700">
            <a:solidFill>
              <a:srgbClr val="22D3EE"/>
            </a:solidFill>
          </a:ln>
        </p:spPr>
        <p:txBody>
          <a:bodyPr wrap="square" lIns="0" tIns="0" rIns="0" bIns="0" rtlCol="0" anchor="ctr"/>
          <a:lstStyle/>
          <a:p>
            <a:pPr algn="ctr" indent="0" marL="0">
              <a:buNone/>
            </a:pPr>
            <a:r>
              <a:rPr lang="en-US" sz="900" b="1" dirty="0">
                <a:solidFill>
                  <a:srgbClr val="FFFFFF"/>
                </a:solidFill>
              </a:rPr>
              <a:t>All vertices included?</a:t>
            </a:r>
            <a:endParaRPr lang="en-US" sz="900" dirty="0"/>
          </a:p>
        </p:txBody>
      </p:sp>
      <p:sp>
        <p:nvSpPr>
          <p:cNvPr id="22" name="Shape 19"/>
          <p:cNvSpPr/>
          <p:nvPr/>
        </p:nvSpPr>
        <p:spPr>
          <a:xfrm>
            <a:off x="6949440" y="3758184"/>
            <a:ext cx="0" cy="118872"/>
          </a:xfrm>
          <a:prstGeom prst="line">
            <a:avLst/>
          </a:prstGeom>
          <a:noFill/>
          <a:ln w="15875">
            <a:solidFill>
              <a:srgbClr val="94A3B8"/>
            </a:solidFill>
            <a:prstDash val="solid"/>
            <a:tailEnd type="triangle"/>
          </a:ln>
        </p:spPr>
      </p:sp>
      <p:sp>
        <p:nvSpPr>
          <p:cNvPr id="23" name="Text 20"/>
          <p:cNvSpPr/>
          <p:nvPr/>
        </p:nvSpPr>
        <p:spPr>
          <a:xfrm>
            <a:off x="5760720" y="3877056"/>
            <a:ext cx="2377440" cy="310896"/>
          </a:xfrm>
          <a:prstGeom prst="rect">
            <a:avLst>
              <a:gd name="adj" fmla="val 50000"/>
            </a:avLst>
          </a:prstGeom>
          <a:solidFill>
            <a:srgbClr val="3B82F6"/>
          </a:solidFill>
          <a:ln w="12700">
            <a:solidFill>
              <a:srgbClr val="22D3EE"/>
            </a:solidFill>
          </a:ln>
        </p:spPr>
        <p:txBody>
          <a:bodyPr wrap="square" lIns="0" tIns="0" rIns="0" bIns="0" rtlCol="0" anchor="ctr"/>
          <a:lstStyle/>
          <a:p>
            <a:pPr algn="ctr" indent="0" marL="0">
              <a:buNone/>
            </a:pPr>
            <a:r>
              <a:rPr lang="en-US" sz="900" b="1" dirty="0">
                <a:solidFill>
                  <a:srgbClr val="FFFFFF"/>
                </a:solidFill>
              </a:rPr>
              <a:t>Display the MST</a:t>
            </a:r>
            <a:endParaRPr lang="en-US" sz="900" dirty="0"/>
          </a:p>
        </p:txBody>
      </p:sp>
      <p:sp>
        <p:nvSpPr>
          <p:cNvPr id="24" name="Shape 21"/>
          <p:cNvSpPr/>
          <p:nvPr/>
        </p:nvSpPr>
        <p:spPr>
          <a:xfrm>
            <a:off x="6949440" y="4187952"/>
            <a:ext cx="0" cy="118872"/>
          </a:xfrm>
          <a:prstGeom prst="line">
            <a:avLst/>
          </a:prstGeom>
          <a:noFill/>
          <a:ln w="15875">
            <a:solidFill>
              <a:srgbClr val="94A3B8"/>
            </a:solidFill>
            <a:prstDash val="solid"/>
            <a:tailEnd type="triangle"/>
          </a:ln>
        </p:spPr>
      </p:sp>
      <p:sp>
        <p:nvSpPr>
          <p:cNvPr id="25" name="Text 22"/>
          <p:cNvSpPr/>
          <p:nvPr/>
        </p:nvSpPr>
        <p:spPr>
          <a:xfrm>
            <a:off x="5760720" y="4306824"/>
            <a:ext cx="2377440" cy="310896"/>
          </a:xfrm>
          <a:prstGeom prst="roundRect">
            <a:avLst>
              <a:gd name="adj" fmla="val 50000"/>
            </a:avLst>
          </a:prstGeom>
          <a:solidFill>
            <a:srgbClr val="22D3EE"/>
          </a:solidFill>
          <a:ln w="12700">
            <a:solidFill>
              <a:srgbClr val="22D3EE"/>
            </a:solidFill>
          </a:ln>
        </p:spPr>
        <p:txBody>
          <a:bodyPr wrap="square" lIns="0" tIns="0" rIns="0" bIns="0" rtlCol="0" anchor="ctr"/>
          <a:lstStyle/>
          <a:p>
            <a:pPr algn="ctr" indent="0" marL="0">
              <a:buNone/>
            </a:pPr>
            <a:r>
              <a:rPr lang="en-US" sz="900" b="1" dirty="0">
                <a:solidFill>
                  <a:srgbClr val="FFFFFF"/>
                </a:solidFill>
              </a:rPr>
              <a:t>END</a:t>
            </a:r>
            <a:endParaRPr lang="en-US" sz="900" dirty="0"/>
          </a:p>
        </p:txBody>
      </p:sp>
      <p:sp>
        <p:nvSpPr>
          <p:cNvPr id="26" name="Shape 23"/>
          <p:cNvSpPr/>
          <p:nvPr/>
        </p:nvSpPr>
        <p:spPr>
          <a:xfrm>
            <a:off x="8138160" y="3602736"/>
            <a:ext cx="365760" cy="0"/>
          </a:xfrm>
          <a:prstGeom prst="line">
            <a:avLst/>
          </a:prstGeom>
          <a:noFill/>
          <a:ln w="15875">
            <a:solidFill>
              <a:srgbClr val="94A3B8"/>
            </a:solidFill>
            <a:prstDash val="solid"/>
          </a:ln>
        </p:spPr>
      </p:sp>
      <p:sp>
        <p:nvSpPr>
          <p:cNvPr id="27" name="Shape 24"/>
          <p:cNvSpPr/>
          <p:nvPr/>
        </p:nvSpPr>
        <p:spPr>
          <a:xfrm>
            <a:off x="8503920" y="2313432"/>
            <a:ext cx="0" cy="1289304"/>
          </a:xfrm>
          <a:prstGeom prst="line">
            <a:avLst/>
          </a:prstGeom>
          <a:noFill/>
          <a:ln w="15875">
            <a:solidFill>
              <a:srgbClr val="94A3B8"/>
            </a:solidFill>
            <a:prstDash val="solid"/>
          </a:ln>
        </p:spPr>
      </p:sp>
      <p:sp>
        <p:nvSpPr>
          <p:cNvPr id="28" name="Shape 25"/>
          <p:cNvSpPr/>
          <p:nvPr/>
        </p:nvSpPr>
        <p:spPr>
          <a:xfrm flipH="1">
            <a:off x="8138160" y="2313432"/>
            <a:ext cx="365760" cy="0"/>
          </a:xfrm>
          <a:prstGeom prst="line">
            <a:avLst/>
          </a:prstGeom>
          <a:noFill/>
          <a:ln w="15875">
            <a:solidFill>
              <a:srgbClr val="94A3B8"/>
            </a:solidFill>
            <a:prstDash val="solid"/>
            <a:headEnd type="triangle"/>
          </a:ln>
        </p:spPr>
      </p:sp>
      <p:sp>
        <p:nvSpPr>
          <p:cNvPr id="29" name="Text 26"/>
          <p:cNvSpPr txBox="1"/>
          <p:nvPr/>
        </p:nvSpPr>
        <p:spPr>
          <a:xfrm>
            <a:off x="8549640" y="2377440"/>
            <a:ext cx="365760" cy="182880"/>
          </a:xfrm>
          <a:prstGeom prst="rect">
            <a:avLst/>
          </a:prstGeom>
          <a:noFill/>
          <a:ln/>
        </p:spPr>
        <p:txBody>
          <a:bodyPr wrap="square" lIns="0" tIns="0" rIns="0" bIns="0" rtlCol="0" anchor="t"/>
          <a:lstStyle/>
          <a:p>
            <a:pPr indent="0" marL="0">
              <a:buNone/>
            </a:pPr>
            <a:r>
              <a:rPr lang="en-US" sz="900" b="1" dirty="0">
                <a:solidFill>
                  <a:srgbClr val="A855F7"/>
                </a:solidFill>
                <a:latin typeface="Calibri" pitchFamily="34" charset="0"/>
                <a:ea typeface="Calibri" pitchFamily="34" charset="-122"/>
                <a:cs typeface="Calibri" pitchFamily="34" charset="-120"/>
              </a:rPr>
              <a:t>NO</a:t>
            </a:r>
            <a:endParaRPr lang="en-US" sz="900" dirty="0"/>
          </a:p>
        </p:txBody>
      </p:sp>
      <p:sp>
        <p:nvSpPr>
          <p:cNvPr id="30" name="Text 27"/>
          <p:cNvSpPr txBox="1"/>
          <p:nvPr/>
        </p:nvSpPr>
        <p:spPr>
          <a:xfrm>
            <a:off x="7040880" y="3758184"/>
            <a:ext cx="457200" cy="118872"/>
          </a:xfrm>
          <a:prstGeom prst="rect">
            <a:avLst/>
          </a:prstGeom>
          <a:noFill/>
          <a:ln/>
        </p:spPr>
        <p:txBody>
          <a:bodyPr wrap="square" lIns="0" tIns="0" rIns="0" bIns="0" rtlCol="0" anchor="t"/>
          <a:lstStyle/>
          <a:p>
            <a:pPr indent="0" marL="0">
              <a:buNone/>
            </a:pPr>
            <a:r>
              <a:rPr lang="en-US" sz="700" b="1" dirty="0">
                <a:solidFill>
                  <a:srgbClr val="22D3EE"/>
                </a:solidFill>
                <a:latin typeface="Calibri" pitchFamily="34" charset="0"/>
                <a:ea typeface="Calibri" pitchFamily="34" charset="-122"/>
                <a:cs typeface="Calibri" pitchFamily="34" charset="-120"/>
              </a:rPr>
              <a:t>YES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Example Graph</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5</a:t>
            </a:r>
            <a:endParaRPr lang="en-US" sz="800" dirty="0"/>
          </a:p>
        </p:txBody>
      </p:sp>
      <p:sp>
        <p:nvSpPr>
          <p:cNvPr id="7" name="Shape 4"/>
          <p:cNvSpPr/>
          <p:nvPr/>
        </p:nvSpPr>
        <p:spPr>
          <a:xfrm flipV="1">
            <a:off x="879196" y="1290676"/>
            <a:ext cx="1481328" cy="1357884"/>
          </a:xfrm>
          <a:prstGeom prst="line">
            <a:avLst/>
          </a:prstGeom>
          <a:noFill/>
          <a:ln w="15875">
            <a:solidFill>
              <a:srgbClr val="475569"/>
            </a:solidFill>
            <a:prstDash val="solid"/>
          </a:ln>
        </p:spPr>
      </p:sp>
      <p:sp>
        <p:nvSpPr>
          <p:cNvPr id="8" name="Text 5"/>
          <p:cNvSpPr txBox="1"/>
          <p:nvPr/>
        </p:nvSpPr>
        <p:spPr>
          <a:xfrm>
            <a:off x="1379830" y="1777594"/>
            <a:ext cx="480060" cy="384048"/>
          </a:xfrm>
          <a:prstGeom prst="rect">
            <a:avLst/>
          </a:prstGeom>
          <a:solidFill>
            <a:srgbClr val="0B1026"/>
          </a:solidFill>
          <a:ln/>
        </p:spPr>
        <p:txBody>
          <a:bodyPr wrap="square" lIns="0" tIns="0" rIns="0" bIns="0" rtlCol="0" anchor="ctr"/>
          <a:lstStyle/>
          <a:p>
            <a:pPr algn="ctr" indent="0" marL="0">
              <a:buNone/>
            </a:pPr>
            <a:r>
              <a:rPr lang="en-US" sz="1500" b="1" dirty="0">
                <a:solidFill>
                  <a:srgbClr val="E2E8F0"/>
                </a:solidFill>
              </a:rPr>
              <a:t>2</a:t>
            </a:r>
            <a:endParaRPr lang="en-US" sz="1500" dirty="0"/>
          </a:p>
        </p:txBody>
      </p:sp>
      <p:sp>
        <p:nvSpPr>
          <p:cNvPr id="9" name="Shape 6"/>
          <p:cNvSpPr/>
          <p:nvPr/>
        </p:nvSpPr>
        <p:spPr>
          <a:xfrm>
            <a:off x="879196" y="2648560"/>
            <a:ext cx="1481328" cy="1357884"/>
          </a:xfrm>
          <a:prstGeom prst="line">
            <a:avLst/>
          </a:prstGeom>
          <a:noFill/>
          <a:ln w="15875">
            <a:solidFill>
              <a:srgbClr val="475569"/>
            </a:solidFill>
            <a:prstDash val="solid"/>
          </a:ln>
        </p:spPr>
      </p:sp>
      <p:sp>
        <p:nvSpPr>
          <p:cNvPr id="10" name="Text 7"/>
          <p:cNvSpPr txBox="1"/>
          <p:nvPr/>
        </p:nvSpPr>
        <p:spPr>
          <a:xfrm>
            <a:off x="1379830" y="3135478"/>
            <a:ext cx="480060" cy="384048"/>
          </a:xfrm>
          <a:prstGeom prst="rect">
            <a:avLst/>
          </a:prstGeom>
          <a:solidFill>
            <a:srgbClr val="0B1026"/>
          </a:solidFill>
          <a:ln/>
        </p:spPr>
        <p:txBody>
          <a:bodyPr wrap="square" lIns="0" tIns="0" rIns="0" bIns="0" rtlCol="0" anchor="ctr"/>
          <a:lstStyle/>
          <a:p>
            <a:pPr algn="ctr" indent="0" marL="0">
              <a:buNone/>
            </a:pPr>
            <a:r>
              <a:rPr lang="en-US" sz="1500" b="1" dirty="0">
                <a:solidFill>
                  <a:srgbClr val="E2E8F0"/>
                </a:solidFill>
              </a:rPr>
              <a:t>3</a:t>
            </a:r>
            <a:endParaRPr lang="en-US" sz="1500" dirty="0"/>
          </a:p>
        </p:txBody>
      </p:sp>
      <p:sp>
        <p:nvSpPr>
          <p:cNvPr id="11" name="Shape 8"/>
          <p:cNvSpPr/>
          <p:nvPr/>
        </p:nvSpPr>
        <p:spPr>
          <a:xfrm>
            <a:off x="2360524" y="1290676"/>
            <a:ext cx="0" cy="2715768"/>
          </a:xfrm>
          <a:prstGeom prst="line">
            <a:avLst/>
          </a:prstGeom>
          <a:noFill/>
          <a:ln w="15875">
            <a:solidFill>
              <a:srgbClr val="475569"/>
            </a:solidFill>
            <a:prstDash val="solid"/>
          </a:ln>
        </p:spPr>
      </p:sp>
      <p:sp>
        <p:nvSpPr>
          <p:cNvPr id="12" name="Text 9"/>
          <p:cNvSpPr txBox="1"/>
          <p:nvPr/>
        </p:nvSpPr>
        <p:spPr>
          <a:xfrm>
            <a:off x="2120494" y="2456536"/>
            <a:ext cx="480060" cy="384048"/>
          </a:xfrm>
          <a:prstGeom prst="rect">
            <a:avLst/>
          </a:prstGeom>
          <a:solidFill>
            <a:srgbClr val="0B1026"/>
          </a:solidFill>
          <a:ln/>
        </p:spPr>
        <p:txBody>
          <a:bodyPr wrap="square" lIns="0" tIns="0" rIns="0" bIns="0" rtlCol="0" anchor="ctr"/>
          <a:lstStyle/>
          <a:p>
            <a:pPr algn="ctr" indent="0" marL="0">
              <a:buNone/>
            </a:pPr>
            <a:r>
              <a:rPr lang="en-US" sz="1500" b="1" dirty="0">
                <a:solidFill>
                  <a:srgbClr val="E2E8F0"/>
                </a:solidFill>
              </a:rPr>
              <a:t>1</a:t>
            </a:r>
            <a:endParaRPr lang="en-US" sz="1500" dirty="0"/>
          </a:p>
        </p:txBody>
      </p:sp>
      <p:sp>
        <p:nvSpPr>
          <p:cNvPr id="13" name="Shape 10"/>
          <p:cNvSpPr/>
          <p:nvPr/>
        </p:nvSpPr>
        <p:spPr>
          <a:xfrm>
            <a:off x="2360524" y="1290676"/>
            <a:ext cx="1975104" cy="0"/>
          </a:xfrm>
          <a:prstGeom prst="line">
            <a:avLst/>
          </a:prstGeom>
          <a:noFill/>
          <a:ln w="15875">
            <a:solidFill>
              <a:srgbClr val="475569"/>
            </a:solidFill>
            <a:prstDash val="solid"/>
          </a:ln>
        </p:spPr>
      </p:sp>
      <p:sp>
        <p:nvSpPr>
          <p:cNvPr id="14" name="Text 11"/>
          <p:cNvSpPr txBox="1"/>
          <p:nvPr/>
        </p:nvSpPr>
        <p:spPr>
          <a:xfrm>
            <a:off x="3108046" y="1098652"/>
            <a:ext cx="480060" cy="384048"/>
          </a:xfrm>
          <a:prstGeom prst="rect">
            <a:avLst/>
          </a:prstGeom>
          <a:solidFill>
            <a:srgbClr val="0B1026"/>
          </a:solidFill>
          <a:ln/>
        </p:spPr>
        <p:txBody>
          <a:bodyPr wrap="square" lIns="0" tIns="0" rIns="0" bIns="0" rtlCol="0" anchor="ctr"/>
          <a:lstStyle/>
          <a:p>
            <a:pPr algn="ctr" indent="0" marL="0">
              <a:buNone/>
            </a:pPr>
            <a:r>
              <a:rPr lang="en-US" sz="1500" b="1" dirty="0">
                <a:solidFill>
                  <a:srgbClr val="E2E8F0"/>
                </a:solidFill>
              </a:rPr>
              <a:t>4</a:t>
            </a:r>
            <a:endParaRPr lang="en-US" sz="1500" dirty="0"/>
          </a:p>
        </p:txBody>
      </p:sp>
      <p:sp>
        <p:nvSpPr>
          <p:cNvPr id="15" name="Shape 12"/>
          <p:cNvSpPr/>
          <p:nvPr/>
        </p:nvSpPr>
        <p:spPr>
          <a:xfrm flipV="1">
            <a:off x="2360524" y="1290676"/>
            <a:ext cx="1975104" cy="2715768"/>
          </a:xfrm>
          <a:prstGeom prst="line">
            <a:avLst/>
          </a:prstGeom>
          <a:noFill/>
          <a:ln w="15875">
            <a:solidFill>
              <a:srgbClr val="475569"/>
            </a:solidFill>
            <a:prstDash val="solid"/>
          </a:ln>
        </p:spPr>
      </p:sp>
      <p:sp>
        <p:nvSpPr>
          <p:cNvPr id="16" name="Text 13"/>
          <p:cNvSpPr txBox="1"/>
          <p:nvPr/>
        </p:nvSpPr>
        <p:spPr>
          <a:xfrm>
            <a:off x="3108046" y="2456536"/>
            <a:ext cx="480060" cy="384048"/>
          </a:xfrm>
          <a:prstGeom prst="rect">
            <a:avLst/>
          </a:prstGeom>
          <a:solidFill>
            <a:srgbClr val="0B1026"/>
          </a:solidFill>
          <a:ln/>
        </p:spPr>
        <p:txBody>
          <a:bodyPr wrap="square" lIns="0" tIns="0" rIns="0" bIns="0" rtlCol="0" anchor="ctr"/>
          <a:lstStyle/>
          <a:p>
            <a:pPr algn="ctr" indent="0" marL="0">
              <a:buNone/>
            </a:pPr>
            <a:r>
              <a:rPr lang="en-US" sz="1500" b="1" dirty="0">
                <a:solidFill>
                  <a:srgbClr val="E2E8F0"/>
                </a:solidFill>
              </a:rPr>
              <a:t>5</a:t>
            </a:r>
            <a:endParaRPr lang="en-US" sz="1500" dirty="0"/>
          </a:p>
        </p:txBody>
      </p:sp>
      <p:sp>
        <p:nvSpPr>
          <p:cNvPr id="17" name="Shape 14"/>
          <p:cNvSpPr/>
          <p:nvPr/>
        </p:nvSpPr>
        <p:spPr>
          <a:xfrm>
            <a:off x="2360524" y="4006444"/>
            <a:ext cx="1975104" cy="0"/>
          </a:xfrm>
          <a:prstGeom prst="line">
            <a:avLst/>
          </a:prstGeom>
          <a:noFill/>
          <a:ln w="15875">
            <a:solidFill>
              <a:srgbClr val="475569"/>
            </a:solidFill>
            <a:prstDash val="solid"/>
          </a:ln>
        </p:spPr>
      </p:sp>
      <p:sp>
        <p:nvSpPr>
          <p:cNvPr id="18" name="Text 15"/>
          <p:cNvSpPr txBox="1"/>
          <p:nvPr/>
        </p:nvSpPr>
        <p:spPr>
          <a:xfrm>
            <a:off x="3108046" y="3814420"/>
            <a:ext cx="480060" cy="384048"/>
          </a:xfrm>
          <a:prstGeom prst="rect">
            <a:avLst/>
          </a:prstGeom>
          <a:solidFill>
            <a:srgbClr val="0B1026"/>
          </a:solidFill>
          <a:ln/>
        </p:spPr>
        <p:txBody>
          <a:bodyPr wrap="square" lIns="0" tIns="0" rIns="0" bIns="0" rtlCol="0" anchor="ctr"/>
          <a:lstStyle/>
          <a:p>
            <a:pPr algn="ctr" indent="0" marL="0">
              <a:buNone/>
            </a:pPr>
            <a:r>
              <a:rPr lang="en-US" sz="1500" b="1" dirty="0">
                <a:solidFill>
                  <a:srgbClr val="E2E8F0"/>
                </a:solidFill>
              </a:rPr>
              <a:t>6</a:t>
            </a:r>
            <a:endParaRPr lang="en-US" sz="1500" dirty="0"/>
          </a:p>
        </p:txBody>
      </p:sp>
      <p:sp>
        <p:nvSpPr>
          <p:cNvPr id="19" name="Shape 16"/>
          <p:cNvSpPr/>
          <p:nvPr/>
        </p:nvSpPr>
        <p:spPr>
          <a:xfrm>
            <a:off x="4335628" y="1290676"/>
            <a:ext cx="0" cy="2715768"/>
          </a:xfrm>
          <a:prstGeom prst="line">
            <a:avLst/>
          </a:prstGeom>
          <a:noFill/>
          <a:ln w="15875">
            <a:solidFill>
              <a:srgbClr val="475569"/>
            </a:solidFill>
            <a:prstDash val="solid"/>
          </a:ln>
        </p:spPr>
      </p:sp>
      <p:sp>
        <p:nvSpPr>
          <p:cNvPr id="20" name="Text 17"/>
          <p:cNvSpPr txBox="1"/>
          <p:nvPr/>
        </p:nvSpPr>
        <p:spPr>
          <a:xfrm>
            <a:off x="4095598" y="2456536"/>
            <a:ext cx="480060" cy="384048"/>
          </a:xfrm>
          <a:prstGeom prst="rect">
            <a:avLst/>
          </a:prstGeom>
          <a:solidFill>
            <a:srgbClr val="0B1026"/>
          </a:solidFill>
          <a:ln/>
        </p:spPr>
        <p:txBody>
          <a:bodyPr wrap="square" lIns="0" tIns="0" rIns="0" bIns="0" rtlCol="0" anchor="ctr"/>
          <a:lstStyle/>
          <a:p>
            <a:pPr algn="ctr" indent="0" marL="0">
              <a:buNone/>
            </a:pPr>
            <a:r>
              <a:rPr lang="en-US" sz="1500" b="1" dirty="0">
                <a:solidFill>
                  <a:srgbClr val="E2E8F0"/>
                </a:solidFill>
              </a:rPr>
              <a:t>2</a:t>
            </a:r>
            <a:endParaRPr lang="en-US" sz="1500" dirty="0"/>
          </a:p>
        </p:txBody>
      </p:sp>
      <p:sp>
        <p:nvSpPr>
          <p:cNvPr id="21" name="Text 18"/>
          <p:cNvSpPr/>
          <p:nvPr/>
        </p:nvSpPr>
        <p:spPr>
          <a:xfrm>
            <a:off x="640080" y="2409444"/>
            <a:ext cx="478231" cy="478231"/>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2000" b="1" dirty="0">
                <a:solidFill>
                  <a:srgbClr val="FFFFFF"/>
                </a:solidFill>
              </a:rPr>
              <a:t>A</a:t>
            </a:r>
            <a:endParaRPr lang="en-US" sz="2000" dirty="0"/>
          </a:p>
        </p:txBody>
      </p:sp>
      <p:sp>
        <p:nvSpPr>
          <p:cNvPr id="22" name="Text 19"/>
          <p:cNvSpPr/>
          <p:nvPr/>
        </p:nvSpPr>
        <p:spPr>
          <a:xfrm>
            <a:off x="2121408" y="1051560"/>
            <a:ext cx="478231" cy="478231"/>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2000" b="1" dirty="0">
                <a:solidFill>
                  <a:srgbClr val="FFFFFF"/>
                </a:solidFill>
              </a:rPr>
              <a:t>B</a:t>
            </a:r>
            <a:endParaRPr lang="en-US" sz="2000" dirty="0"/>
          </a:p>
        </p:txBody>
      </p:sp>
      <p:sp>
        <p:nvSpPr>
          <p:cNvPr id="23" name="Text 20"/>
          <p:cNvSpPr/>
          <p:nvPr/>
        </p:nvSpPr>
        <p:spPr>
          <a:xfrm>
            <a:off x="2121408" y="3767328"/>
            <a:ext cx="478231" cy="478231"/>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2000" b="1" dirty="0">
                <a:solidFill>
                  <a:srgbClr val="FFFFFF"/>
                </a:solidFill>
              </a:rPr>
              <a:t>C</a:t>
            </a:r>
            <a:endParaRPr lang="en-US" sz="2000" dirty="0"/>
          </a:p>
        </p:txBody>
      </p:sp>
      <p:sp>
        <p:nvSpPr>
          <p:cNvPr id="24" name="Text 21"/>
          <p:cNvSpPr/>
          <p:nvPr/>
        </p:nvSpPr>
        <p:spPr>
          <a:xfrm>
            <a:off x="4096512" y="1051560"/>
            <a:ext cx="478231" cy="478231"/>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2000" b="1" dirty="0">
                <a:solidFill>
                  <a:srgbClr val="FFFFFF"/>
                </a:solidFill>
              </a:rPr>
              <a:t>D</a:t>
            </a:r>
            <a:endParaRPr lang="en-US" sz="2000" dirty="0"/>
          </a:p>
        </p:txBody>
      </p:sp>
      <p:sp>
        <p:nvSpPr>
          <p:cNvPr id="25" name="Text 22"/>
          <p:cNvSpPr/>
          <p:nvPr/>
        </p:nvSpPr>
        <p:spPr>
          <a:xfrm>
            <a:off x="4096512" y="3767328"/>
            <a:ext cx="478231" cy="478231"/>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2000" b="1" dirty="0">
                <a:solidFill>
                  <a:srgbClr val="FFFFFF"/>
                </a:solidFill>
              </a:rPr>
              <a:t>E</a:t>
            </a:r>
            <a:endParaRPr lang="en-US" sz="2000" dirty="0"/>
          </a:p>
        </p:txBody>
      </p:sp>
      <p:sp>
        <p:nvSpPr>
          <p:cNvPr id="26" name="Shape 23"/>
          <p:cNvSpPr/>
          <p:nvPr/>
        </p:nvSpPr>
        <p:spPr>
          <a:xfrm>
            <a:off x="4754880" y="914400"/>
            <a:ext cx="4023360" cy="2103120"/>
          </a:xfrm>
          <a:prstGeom prst="roundRect">
            <a:avLst>
              <a:gd name="adj" fmla="val 3478"/>
            </a:avLst>
          </a:prstGeom>
          <a:solidFill>
            <a:srgbClr val="141B3A"/>
          </a:solidFill>
          <a:ln w="12700">
            <a:solidFill>
              <a:srgbClr val="22D3EE"/>
            </a:solidFill>
            <a:prstDash val="solid"/>
          </a:ln>
        </p:spPr>
      </p:sp>
      <p:sp>
        <p:nvSpPr>
          <p:cNvPr id="27" name="Text 24"/>
          <p:cNvSpPr txBox="1"/>
          <p:nvPr/>
        </p:nvSpPr>
        <p:spPr>
          <a:xfrm>
            <a:off x="4937760" y="1005840"/>
            <a:ext cx="3657600" cy="1828800"/>
          </a:xfrm>
          <a:prstGeom prst="rect">
            <a:avLst/>
          </a:prstGeom>
          <a:noFill/>
          <a:ln/>
        </p:spPr>
        <p:txBody>
          <a:bodyPr wrap="square" lIns="0" tIns="0" rIns="0" bIns="0" rtlCol="0" anchor="t"/>
          <a:lstStyle/>
          <a:p>
            <a:pPr indent="0" marL="0">
              <a:spcAft>
                <a:spcPts val="800"/>
              </a:spcAft>
              <a:buNone/>
            </a:pPr>
            <a:r>
              <a:rPr lang="en-US" sz="1400" b="1" dirty="0">
                <a:solidFill>
                  <a:srgbClr val="22D3EE"/>
                </a:solidFill>
                <a:latin typeface="Calibri" pitchFamily="34" charset="0"/>
                <a:ea typeface="Calibri" pitchFamily="34" charset="-122"/>
                <a:cs typeface="Calibri" pitchFamily="34" charset="-120"/>
              </a:rPr>
              <a:t>Edges and weights</a:t>
            </a:r>
            <a:endParaRPr lang="en-US" sz="1400" dirty="0"/>
          </a:p>
          <a:p>
            <a:pPr indent="0" marL="0">
              <a:spcAft>
                <a:spcPts val="800"/>
              </a:spcAft>
              <a:buNone/>
            </a:pPr>
            <a:r>
              <a:rPr lang="en-US" sz="1400" dirty="0">
                <a:solidFill>
                  <a:srgbClr val="E2E8F0"/>
                </a:solidFill>
                <a:latin typeface="Calibri" pitchFamily="34" charset="0"/>
                <a:ea typeface="Calibri" pitchFamily="34" charset="-122"/>
                <a:cs typeface="Calibri" pitchFamily="34" charset="-120"/>
              </a:rPr>
              <a:t>A-B = 2     A-C = 3     B-C = 1</a:t>
            </a:r>
            <a:endParaRPr lang="en-US" sz="1400" dirty="0"/>
          </a:p>
          <a:p>
            <a:pPr indent="0" marL="0">
              <a:spcAft>
                <a:spcPts val="800"/>
              </a:spcAft>
              <a:buNone/>
            </a:pPr>
            <a:r>
              <a:rPr lang="en-US" sz="1400" dirty="0">
                <a:solidFill>
                  <a:srgbClr val="E2E8F0"/>
                </a:solidFill>
                <a:latin typeface="Calibri" pitchFamily="34" charset="0"/>
                <a:ea typeface="Calibri" pitchFamily="34" charset="-122"/>
                <a:cs typeface="Calibri" pitchFamily="34" charset="-120"/>
              </a:rPr>
              <a:t>B-D = 4     C-D = 5     C-E = 6</a:t>
            </a:r>
            <a:endParaRPr lang="en-US" sz="1400" dirty="0"/>
          </a:p>
          <a:p>
            <a:pPr indent="0" marL="0">
              <a:spcAft>
                <a:spcPts val="800"/>
              </a:spcAft>
              <a:buNone/>
            </a:pPr>
            <a:r>
              <a:rPr lang="en-US" sz="1400" dirty="0">
                <a:solidFill>
                  <a:srgbClr val="E2E8F0"/>
                </a:solidFill>
                <a:latin typeface="Calibri" pitchFamily="34" charset="0"/>
                <a:ea typeface="Calibri" pitchFamily="34" charset="-122"/>
                <a:cs typeface="Calibri" pitchFamily="34" charset="-120"/>
              </a:rPr>
              <a:t>D-E = 2</a:t>
            </a:r>
            <a:endParaRPr lang="en-US" sz="1400" dirty="0"/>
          </a:p>
        </p:txBody>
      </p:sp>
      <p:sp>
        <p:nvSpPr>
          <p:cNvPr id="28" name="Text 25"/>
          <p:cNvSpPr txBox="1"/>
          <p:nvPr/>
        </p:nvSpPr>
        <p:spPr>
          <a:xfrm>
            <a:off x="4754880" y="3200400"/>
            <a:ext cx="402336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5 vertices, 7 edges</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Starting vertex: A</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Prim repeatedly picks the minimum-weight edge from the current tree to an outside vertex</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Prim's Algorithm in Action</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6</a:t>
            </a:r>
            <a:endParaRPr lang="en-US" sz="800" dirty="0"/>
          </a:p>
        </p:txBody>
      </p:sp>
      <p:sp>
        <p:nvSpPr>
          <p:cNvPr id="7" name="Shape 4"/>
          <p:cNvSpPr/>
          <p:nvPr/>
        </p:nvSpPr>
        <p:spPr>
          <a:xfrm>
            <a:off x="228600" y="868680"/>
            <a:ext cx="2103120" cy="2926080"/>
          </a:xfrm>
          <a:prstGeom prst="roundRect">
            <a:avLst>
              <a:gd name="adj" fmla="val 3478"/>
            </a:avLst>
          </a:prstGeom>
          <a:solidFill>
            <a:srgbClr val="141B3A"/>
          </a:solidFill>
          <a:ln w="12700">
            <a:solidFill>
              <a:srgbClr val="22D3EE"/>
            </a:solidFill>
            <a:prstDash val="solid"/>
          </a:ln>
        </p:spPr>
      </p:sp>
      <p:sp>
        <p:nvSpPr>
          <p:cNvPr id="8" name="Shape 5"/>
          <p:cNvSpPr/>
          <p:nvPr/>
        </p:nvSpPr>
        <p:spPr>
          <a:xfrm flipV="1">
            <a:off x="584759" y="1179119"/>
            <a:ext cx="603504" cy="553212"/>
          </a:xfrm>
          <a:prstGeom prst="line">
            <a:avLst/>
          </a:prstGeom>
          <a:noFill/>
          <a:ln w="44450">
            <a:solidFill>
              <a:srgbClr val="22D3EE"/>
            </a:solidFill>
            <a:prstDash val="solid"/>
          </a:ln>
        </p:spPr>
      </p:sp>
      <p:sp>
        <p:nvSpPr>
          <p:cNvPr id="9" name="Text 6"/>
          <p:cNvSpPr txBox="1"/>
          <p:nvPr/>
        </p:nvSpPr>
        <p:spPr>
          <a:xfrm>
            <a:off x="756209" y="1351483"/>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2</a:t>
            </a:r>
            <a:endParaRPr lang="en-US" sz="800" dirty="0"/>
          </a:p>
        </p:txBody>
      </p:sp>
      <p:sp>
        <p:nvSpPr>
          <p:cNvPr id="10" name="Shape 7"/>
          <p:cNvSpPr/>
          <p:nvPr/>
        </p:nvSpPr>
        <p:spPr>
          <a:xfrm>
            <a:off x="584759" y="1732331"/>
            <a:ext cx="603504" cy="553212"/>
          </a:xfrm>
          <a:prstGeom prst="line">
            <a:avLst/>
          </a:prstGeom>
          <a:noFill/>
          <a:ln w="15875">
            <a:solidFill>
              <a:srgbClr val="475569"/>
            </a:solidFill>
            <a:prstDash val="solid"/>
          </a:ln>
        </p:spPr>
      </p:sp>
      <p:sp>
        <p:nvSpPr>
          <p:cNvPr id="11" name="Text 8"/>
          <p:cNvSpPr txBox="1"/>
          <p:nvPr/>
        </p:nvSpPr>
        <p:spPr>
          <a:xfrm>
            <a:off x="756209" y="1904695"/>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3</a:t>
            </a:r>
            <a:endParaRPr lang="en-US" sz="800" dirty="0"/>
          </a:p>
        </p:txBody>
      </p:sp>
      <p:sp>
        <p:nvSpPr>
          <p:cNvPr id="12" name="Shape 9"/>
          <p:cNvSpPr/>
          <p:nvPr/>
        </p:nvSpPr>
        <p:spPr>
          <a:xfrm>
            <a:off x="1188263" y="1179119"/>
            <a:ext cx="0" cy="1106424"/>
          </a:xfrm>
          <a:prstGeom prst="line">
            <a:avLst/>
          </a:prstGeom>
          <a:noFill/>
          <a:ln w="15875">
            <a:solidFill>
              <a:srgbClr val="475569"/>
            </a:solidFill>
            <a:prstDash val="solid"/>
          </a:ln>
        </p:spPr>
      </p:sp>
      <p:sp>
        <p:nvSpPr>
          <p:cNvPr id="13" name="Text 10"/>
          <p:cNvSpPr txBox="1"/>
          <p:nvPr/>
        </p:nvSpPr>
        <p:spPr>
          <a:xfrm>
            <a:off x="1057961"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1</a:t>
            </a:r>
            <a:endParaRPr lang="en-US" sz="800" dirty="0"/>
          </a:p>
        </p:txBody>
      </p:sp>
      <p:sp>
        <p:nvSpPr>
          <p:cNvPr id="14" name="Shape 11"/>
          <p:cNvSpPr/>
          <p:nvPr/>
        </p:nvSpPr>
        <p:spPr>
          <a:xfrm>
            <a:off x="1188263" y="1179119"/>
            <a:ext cx="804672" cy="0"/>
          </a:xfrm>
          <a:prstGeom prst="line">
            <a:avLst/>
          </a:prstGeom>
          <a:noFill/>
          <a:ln w="15875">
            <a:solidFill>
              <a:srgbClr val="475569"/>
            </a:solidFill>
            <a:prstDash val="solid"/>
          </a:ln>
        </p:spPr>
      </p:sp>
      <p:sp>
        <p:nvSpPr>
          <p:cNvPr id="15" name="Text 12"/>
          <p:cNvSpPr txBox="1"/>
          <p:nvPr/>
        </p:nvSpPr>
        <p:spPr>
          <a:xfrm>
            <a:off x="1460297" y="1074877"/>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4</a:t>
            </a:r>
            <a:endParaRPr lang="en-US" sz="800" dirty="0"/>
          </a:p>
        </p:txBody>
      </p:sp>
      <p:sp>
        <p:nvSpPr>
          <p:cNvPr id="16" name="Shape 13"/>
          <p:cNvSpPr/>
          <p:nvPr/>
        </p:nvSpPr>
        <p:spPr>
          <a:xfrm flipV="1">
            <a:off x="1188263" y="1179119"/>
            <a:ext cx="804672" cy="1106424"/>
          </a:xfrm>
          <a:prstGeom prst="line">
            <a:avLst/>
          </a:prstGeom>
          <a:noFill/>
          <a:ln w="15875">
            <a:solidFill>
              <a:srgbClr val="475569"/>
            </a:solidFill>
            <a:prstDash val="solid"/>
          </a:ln>
        </p:spPr>
      </p:sp>
      <p:sp>
        <p:nvSpPr>
          <p:cNvPr id="17" name="Text 14"/>
          <p:cNvSpPr txBox="1"/>
          <p:nvPr/>
        </p:nvSpPr>
        <p:spPr>
          <a:xfrm>
            <a:off x="1460297"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5</a:t>
            </a:r>
            <a:endParaRPr lang="en-US" sz="800" dirty="0"/>
          </a:p>
        </p:txBody>
      </p:sp>
      <p:sp>
        <p:nvSpPr>
          <p:cNvPr id="18" name="Shape 15"/>
          <p:cNvSpPr/>
          <p:nvPr/>
        </p:nvSpPr>
        <p:spPr>
          <a:xfrm>
            <a:off x="1188263" y="2285543"/>
            <a:ext cx="804672" cy="0"/>
          </a:xfrm>
          <a:prstGeom prst="line">
            <a:avLst/>
          </a:prstGeom>
          <a:noFill/>
          <a:ln w="15875">
            <a:solidFill>
              <a:srgbClr val="475569"/>
            </a:solidFill>
            <a:prstDash val="solid"/>
          </a:ln>
        </p:spPr>
      </p:sp>
      <p:sp>
        <p:nvSpPr>
          <p:cNvPr id="19" name="Text 16"/>
          <p:cNvSpPr txBox="1"/>
          <p:nvPr/>
        </p:nvSpPr>
        <p:spPr>
          <a:xfrm>
            <a:off x="1460297" y="2181301"/>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6</a:t>
            </a:r>
            <a:endParaRPr lang="en-US" sz="800" dirty="0"/>
          </a:p>
        </p:txBody>
      </p:sp>
      <p:sp>
        <p:nvSpPr>
          <p:cNvPr id="20" name="Shape 17"/>
          <p:cNvSpPr/>
          <p:nvPr/>
        </p:nvSpPr>
        <p:spPr>
          <a:xfrm>
            <a:off x="1992935" y="1179119"/>
            <a:ext cx="0" cy="1106424"/>
          </a:xfrm>
          <a:prstGeom prst="line">
            <a:avLst/>
          </a:prstGeom>
          <a:noFill/>
          <a:ln w="15875">
            <a:solidFill>
              <a:srgbClr val="475569"/>
            </a:solidFill>
            <a:prstDash val="solid"/>
          </a:ln>
        </p:spPr>
      </p:sp>
      <p:sp>
        <p:nvSpPr>
          <p:cNvPr id="21" name="Text 18"/>
          <p:cNvSpPr txBox="1"/>
          <p:nvPr/>
        </p:nvSpPr>
        <p:spPr>
          <a:xfrm>
            <a:off x="1862633"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2</a:t>
            </a:r>
            <a:endParaRPr lang="en-US" sz="800" dirty="0"/>
          </a:p>
        </p:txBody>
      </p:sp>
      <p:sp>
        <p:nvSpPr>
          <p:cNvPr id="22" name="Text 19"/>
          <p:cNvSpPr/>
          <p:nvPr/>
        </p:nvSpPr>
        <p:spPr>
          <a:xfrm>
            <a:off x="411480" y="1559052"/>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23" name="Text 20"/>
          <p:cNvSpPr/>
          <p:nvPr/>
        </p:nvSpPr>
        <p:spPr>
          <a:xfrm>
            <a:off x="1014984" y="1005840"/>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24" name="Text 21"/>
          <p:cNvSpPr/>
          <p:nvPr/>
        </p:nvSpPr>
        <p:spPr>
          <a:xfrm>
            <a:off x="1014984" y="2112264"/>
            <a:ext cx="346558" cy="346558"/>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25" name="Text 22"/>
          <p:cNvSpPr/>
          <p:nvPr/>
        </p:nvSpPr>
        <p:spPr>
          <a:xfrm>
            <a:off x="1819656" y="1005840"/>
            <a:ext cx="346558" cy="346558"/>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26" name="Text 23"/>
          <p:cNvSpPr/>
          <p:nvPr/>
        </p:nvSpPr>
        <p:spPr>
          <a:xfrm>
            <a:off x="1819656" y="2112264"/>
            <a:ext cx="346558" cy="346558"/>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100" b="1" dirty="0">
                <a:solidFill>
                  <a:srgbClr val="FFFFFF"/>
                </a:solidFill>
              </a:rPr>
              <a:t>E</a:t>
            </a:r>
            <a:endParaRPr lang="en-US" sz="1100" dirty="0"/>
          </a:p>
        </p:txBody>
      </p:sp>
      <p:sp>
        <p:nvSpPr>
          <p:cNvPr id="27" name="Text 24"/>
          <p:cNvSpPr txBox="1"/>
          <p:nvPr/>
        </p:nvSpPr>
        <p:spPr>
          <a:xfrm>
            <a:off x="338328" y="2697480"/>
            <a:ext cx="1920240" cy="1097280"/>
          </a:xfrm>
          <a:prstGeom prst="rect">
            <a:avLst/>
          </a:prstGeom>
          <a:noFill/>
          <a:ln/>
        </p:spPr>
        <p:txBody>
          <a:bodyPr wrap="square" lIns="0" tIns="0" rIns="0" bIns="0" rtlCol="0" anchor="t"/>
          <a:lstStyle/>
          <a:p>
            <a:pPr indent="0" marL="0">
              <a:spcAft>
                <a:spcPts val="300"/>
              </a:spcAft>
              <a:buNone/>
            </a:pPr>
            <a:r>
              <a:rPr lang="en-US" sz="950" b="1" dirty="0">
                <a:solidFill>
                  <a:srgbClr val="22D3EE"/>
                </a:solidFill>
                <a:latin typeface="Calibri" pitchFamily="34" charset="0"/>
                <a:ea typeface="Calibri" pitchFamily="34" charset="-122"/>
                <a:cs typeface="Calibri" pitchFamily="34" charset="-120"/>
              </a:rPr>
              <a:t>STEP 1   Tree {A}</a:t>
            </a:r>
            <a:endParaRPr lang="en-US" sz="950" dirty="0"/>
          </a:p>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Eligible: A-B 2, A-C 3</a:t>
            </a:r>
            <a:endParaRPr lang="en-US" sz="950" dirty="0"/>
          </a:p>
          <a:p>
            <a:pPr indent="0" marL="0">
              <a:spcAft>
                <a:spcPts val="300"/>
              </a:spcAft>
              <a:buNone/>
            </a:pPr>
            <a:r>
              <a:rPr lang="en-US" sz="950" b="1" dirty="0">
                <a:solidFill>
                  <a:srgbClr val="FFFFFF"/>
                </a:solidFill>
                <a:latin typeface="Calibri" pitchFamily="34" charset="0"/>
                <a:ea typeface="Calibri" pitchFamily="34" charset="-122"/>
                <a:cs typeface="Calibri" pitchFamily="34" charset="-120"/>
              </a:rPr>
              <a:t>Pick A-B (2): smallest eligible; adds B</a:t>
            </a:r>
            <a:endParaRPr lang="en-US" sz="950" dirty="0"/>
          </a:p>
        </p:txBody>
      </p:sp>
      <p:sp>
        <p:nvSpPr>
          <p:cNvPr id="28" name="Shape 25"/>
          <p:cNvSpPr/>
          <p:nvPr/>
        </p:nvSpPr>
        <p:spPr>
          <a:xfrm>
            <a:off x="2423160" y="868680"/>
            <a:ext cx="2103120" cy="2926080"/>
          </a:xfrm>
          <a:prstGeom prst="roundRect">
            <a:avLst>
              <a:gd name="adj" fmla="val 3478"/>
            </a:avLst>
          </a:prstGeom>
          <a:solidFill>
            <a:srgbClr val="141B3A"/>
          </a:solidFill>
          <a:ln w="12700">
            <a:solidFill>
              <a:srgbClr val="A855F7"/>
            </a:solidFill>
            <a:prstDash val="solid"/>
          </a:ln>
        </p:spPr>
      </p:sp>
      <p:sp>
        <p:nvSpPr>
          <p:cNvPr id="29" name="Shape 26"/>
          <p:cNvSpPr/>
          <p:nvPr/>
        </p:nvSpPr>
        <p:spPr>
          <a:xfrm flipV="1">
            <a:off x="2779319" y="1179119"/>
            <a:ext cx="603504" cy="553212"/>
          </a:xfrm>
          <a:prstGeom prst="line">
            <a:avLst/>
          </a:prstGeom>
          <a:noFill/>
          <a:ln w="44450">
            <a:solidFill>
              <a:srgbClr val="22D3EE"/>
            </a:solidFill>
            <a:prstDash val="solid"/>
          </a:ln>
        </p:spPr>
      </p:sp>
      <p:sp>
        <p:nvSpPr>
          <p:cNvPr id="30" name="Text 27"/>
          <p:cNvSpPr txBox="1"/>
          <p:nvPr/>
        </p:nvSpPr>
        <p:spPr>
          <a:xfrm>
            <a:off x="2950769" y="1351483"/>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2</a:t>
            </a:r>
            <a:endParaRPr lang="en-US" sz="800" dirty="0"/>
          </a:p>
        </p:txBody>
      </p:sp>
      <p:sp>
        <p:nvSpPr>
          <p:cNvPr id="31" name="Shape 28"/>
          <p:cNvSpPr/>
          <p:nvPr/>
        </p:nvSpPr>
        <p:spPr>
          <a:xfrm>
            <a:off x="2779319" y="1732331"/>
            <a:ext cx="603504" cy="553212"/>
          </a:xfrm>
          <a:prstGeom prst="line">
            <a:avLst/>
          </a:prstGeom>
          <a:noFill/>
          <a:ln w="15875">
            <a:solidFill>
              <a:srgbClr val="475569"/>
            </a:solidFill>
            <a:prstDash val="solid"/>
          </a:ln>
        </p:spPr>
      </p:sp>
      <p:sp>
        <p:nvSpPr>
          <p:cNvPr id="32" name="Text 29"/>
          <p:cNvSpPr txBox="1"/>
          <p:nvPr/>
        </p:nvSpPr>
        <p:spPr>
          <a:xfrm>
            <a:off x="2950769" y="1904695"/>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3</a:t>
            </a:r>
            <a:endParaRPr lang="en-US" sz="800" dirty="0"/>
          </a:p>
        </p:txBody>
      </p:sp>
      <p:sp>
        <p:nvSpPr>
          <p:cNvPr id="33" name="Shape 30"/>
          <p:cNvSpPr/>
          <p:nvPr/>
        </p:nvSpPr>
        <p:spPr>
          <a:xfrm>
            <a:off x="3382823" y="1179119"/>
            <a:ext cx="0" cy="1106424"/>
          </a:xfrm>
          <a:prstGeom prst="line">
            <a:avLst/>
          </a:prstGeom>
          <a:noFill/>
          <a:ln w="44450">
            <a:solidFill>
              <a:srgbClr val="22D3EE"/>
            </a:solidFill>
            <a:prstDash val="solid"/>
          </a:ln>
        </p:spPr>
      </p:sp>
      <p:sp>
        <p:nvSpPr>
          <p:cNvPr id="34" name="Text 31"/>
          <p:cNvSpPr txBox="1"/>
          <p:nvPr/>
        </p:nvSpPr>
        <p:spPr>
          <a:xfrm>
            <a:off x="3252521"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1</a:t>
            </a:r>
            <a:endParaRPr lang="en-US" sz="800" dirty="0"/>
          </a:p>
        </p:txBody>
      </p:sp>
      <p:sp>
        <p:nvSpPr>
          <p:cNvPr id="35" name="Shape 32"/>
          <p:cNvSpPr/>
          <p:nvPr/>
        </p:nvSpPr>
        <p:spPr>
          <a:xfrm>
            <a:off x="3382823" y="1179119"/>
            <a:ext cx="804672" cy="0"/>
          </a:xfrm>
          <a:prstGeom prst="line">
            <a:avLst/>
          </a:prstGeom>
          <a:noFill/>
          <a:ln w="15875">
            <a:solidFill>
              <a:srgbClr val="475569"/>
            </a:solidFill>
            <a:prstDash val="solid"/>
          </a:ln>
        </p:spPr>
      </p:sp>
      <p:sp>
        <p:nvSpPr>
          <p:cNvPr id="36" name="Text 33"/>
          <p:cNvSpPr txBox="1"/>
          <p:nvPr/>
        </p:nvSpPr>
        <p:spPr>
          <a:xfrm>
            <a:off x="3654857" y="1074877"/>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4</a:t>
            </a:r>
            <a:endParaRPr lang="en-US" sz="800" dirty="0"/>
          </a:p>
        </p:txBody>
      </p:sp>
      <p:sp>
        <p:nvSpPr>
          <p:cNvPr id="37" name="Shape 34"/>
          <p:cNvSpPr/>
          <p:nvPr/>
        </p:nvSpPr>
        <p:spPr>
          <a:xfrm flipV="1">
            <a:off x="3382823" y="1179119"/>
            <a:ext cx="804672" cy="1106424"/>
          </a:xfrm>
          <a:prstGeom prst="line">
            <a:avLst/>
          </a:prstGeom>
          <a:noFill/>
          <a:ln w="15875">
            <a:solidFill>
              <a:srgbClr val="475569"/>
            </a:solidFill>
            <a:prstDash val="solid"/>
          </a:ln>
        </p:spPr>
      </p:sp>
      <p:sp>
        <p:nvSpPr>
          <p:cNvPr id="38" name="Text 35"/>
          <p:cNvSpPr txBox="1"/>
          <p:nvPr/>
        </p:nvSpPr>
        <p:spPr>
          <a:xfrm>
            <a:off x="3654857"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5</a:t>
            </a:r>
            <a:endParaRPr lang="en-US" sz="800" dirty="0"/>
          </a:p>
        </p:txBody>
      </p:sp>
      <p:sp>
        <p:nvSpPr>
          <p:cNvPr id="39" name="Shape 36"/>
          <p:cNvSpPr/>
          <p:nvPr/>
        </p:nvSpPr>
        <p:spPr>
          <a:xfrm>
            <a:off x="3382823" y="2285543"/>
            <a:ext cx="804672" cy="0"/>
          </a:xfrm>
          <a:prstGeom prst="line">
            <a:avLst/>
          </a:prstGeom>
          <a:noFill/>
          <a:ln w="15875">
            <a:solidFill>
              <a:srgbClr val="475569"/>
            </a:solidFill>
            <a:prstDash val="solid"/>
          </a:ln>
        </p:spPr>
      </p:sp>
      <p:sp>
        <p:nvSpPr>
          <p:cNvPr id="40" name="Text 37"/>
          <p:cNvSpPr txBox="1"/>
          <p:nvPr/>
        </p:nvSpPr>
        <p:spPr>
          <a:xfrm>
            <a:off x="3654857" y="2181301"/>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6</a:t>
            </a:r>
            <a:endParaRPr lang="en-US" sz="800" dirty="0"/>
          </a:p>
        </p:txBody>
      </p:sp>
      <p:sp>
        <p:nvSpPr>
          <p:cNvPr id="41" name="Shape 38"/>
          <p:cNvSpPr/>
          <p:nvPr/>
        </p:nvSpPr>
        <p:spPr>
          <a:xfrm>
            <a:off x="4187495" y="1179119"/>
            <a:ext cx="0" cy="1106424"/>
          </a:xfrm>
          <a:prstGeom prst="line">
            <a:avLst/>
          </a:prstGeom>
          <a:noFill/>
          <a:ln w="15875">
            <a:solidFill>
              <a:srgbClr val="475569"/>
            </a:solidFill>
            <a:prstDash val="solid"/>
          </a:ln>
        </p:spPr>
      </p:sp>
      <p:sp>
        <p:nvSpPr>
          <p:cNvPr id="42" name="Text 39"/>
          <p:cNvSpPr txBox="1"/>
          <p:nvPr/>
        </p:nvSpPr>
        <p:spPr>
          <a:xfrm>
            <a:off x="4057193"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2</a:t>
            </a:r>
            <a:endParaRPr lang="en-US" sz="800" dirty="0"/>
          </a:p>
        </p:txBody>
      </p:sp>
      <p:sp>
        <p:nvSpPr>
          <p:cNvPr id="43" name="Text 40"/>
          <p:cNvSpPr/>
          <p:nvPr/>
        </p:nvSpPr>
        <p:spPr>
          <a:xfrm>
            <a:off x="2606040" y="1559052"/>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44" name="Text 41"/>
          <p:cNvSpPr/>
          <p:nvPr/>
        </p:nvSpPr>
        <p:spPr>
          <a:xfrm>
            <a:off x="3209544" y="1005840"/>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45" name="Text 42"/>
          <p:cNvSpPr/>
          <p:nvPr/>
        </p:nvSpPr>
        <p:spPr>
          <a:xfrm>
            <a:off x="3209544" y="2112264"/>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46" name="Text 43"/>
          <p:cNvSpPr/>
          <p:nvPr/>
        </p:nvSpPr>
        <p:spPr>
          <a:xfrm>
            <a:off x="4014216" y="1005840"/>
            <a:ext cx="346558" cy="346558"/>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47" name="Text 44"/>
          <p:cNvSpPr/>
          <p:nvPr/>
        </p:nvSpPr>
        <p:spPr>
          <a:xfrm>
            <a:off x="4014216" y="2112264"/>
            <a:ext cx="346558" cy="346558"/>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100" b="1" dirty="0">
                <a:solidFill>
                  <a:srgbClr val="FFFFFF"/>
                </a:solidFill>
              </a:rPr>
              <a:t>E</a:t>
            </a:r>
            <a:endParaRPr lang="en-US" sz="1100" dirty="0"/>
          </a:p>
        </p:txBody>
      </p:sp>
      <p:sp>
        <p:nvSpPr>
          <p:cNvPr id="48" name="Text 45"/>
          <p:cNvSpPr txBox="1"/>
          <p:nvPr/>
        </p:nvSpPr>
        <p:spPr>
          <a:xfrm>
            <a:off x="2532888" y="2697480"/>
            <a:ext cx="1920240" cy="1097280"/>
          </a:xfrm>
          <a:prstGeom prst="rect">
            <a:avLst/>
          </a:prstGeom>
          <a:noFill/>
          <a:ln/>
        </p:spPr>
        <p:txBody>
          <a:bodyPr wrap="square" lIns="0" tIns="0" rIns="0" bIns="0" rtlCol="0" anchor="t"/>
          <a:lstStyle/>
          <a:p>
            <a:pPr indent="0" marL="0">
              <a:spcAft>
                <a:spcPts val="300"/>
              </a:spcAft>
              <a:buNone/>
            </a:pPr>
            <a:r>
              <a:rPr lang="en-US" sz="950" b="1" dirty="0">
                <a:solidFill>
                  <a:srgbClr val="22D3EE"/>
                </a:solidFill>
                <a:latin typeface="Calibri" pitchFamily="34" charset="0"/>
                <a:ea typeface="Calibri" pitchFamily="34" charset="-122"/>
                <a:cs typeface="Calibri" pitchFamily="34" charset="-120"/>
              </a:rPr>
              <a:t>STEP 2   Tree {A,B}</a:t>
            </a:r>
            <a:endParaRPr lang="en-US" sz="950" dirty="0"/>
          </a:p>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Eligible: A-C 3, B-C 1, B-D 4</a:t>
            </a:r>
            <a:endParaRPr lang="en-US" sz="950" dirty="0"/>
          </a:p>
          <a:p>
            <a:pPr indent="0" marL="0">
              <a:spcAft>
                <a:spcPts val="300"/>
              </a:spcAft>
              <a:buNone/>
            </a:pPr>
            <a:r>
              <a:rPr lang="en-US" sz="950" b="1" dirty="0">
                <a:solidFill>
                  <a:srgbClr val="FFFFFF"/>
                </a:solidFill>
                <a:latin typeface="Calibri" pitchFamily="34" charset="0"/>
                <a:ea typeface="Calibri" pitchFamily="34" charset="-122"/>
                <a:cs typeface="Calibri" pitchFamily="34" charset="-120"/>
              </a:rPr>
              <a:t>Pick B-C (1): smallest; adds C</a:t>
            </a:r>
            <a:endParaRPr lang="en-US" sz="950" dirty="0"/>
          </a:p>
        </p:txBody>
      </p:sp>
      <p:sp>
        <p:nvSpPr>
          <p:cNvPr id="49" name="Shape 46"/>
          <p:cNvSpPr/>
          <p:nvPr/>
        </p:nvSpPr>
        <p:spPr>
          <a:xfrm>
            <a:off x="4617720" y="868680"/>
            <a:ext cx="2103120" cy="2926080"/>
          </a:xfrm>
          <a:prstGeom prst="roundRect">
            <a:avLst>
              <a:gd name="adj" fmla="val 3478"/>
            </a:avLst>
          </a:prstGeom>
          <a:solidFill>
            <a:srgbClr val="141B3A"/>
          </a:solidFill>
          <a:ln w="12700">
            <a:solidFill>
              <a:srgbClr val="22D3EE"/>
            </a:solidFill>
            <a:prstDash val="solid"/>
          </a:ln>
        </p:spPr>
      </p:sp>
      <p:sp>
        <p:nvSpPr>
          <p:cNvPr id="50" name="Shape 47"/>
          <p:cNvSpPr/>
          <p:nvPr/>
        </p:nvSpPr>
        <p:spPr>
          <a:xfrm flipV="1">
            <a:off x="4973879" y="1179119"/>
            <a:ext cx="603504" cy="553212"/>
          </a:xfrm>
          <a:prstGeom prst="line">
            <a:avLst/>
          </a:prstGeom>
          <a:noFill/>
          <a:ln w="44450">
            <a:solidFill>
              <a:srgbClr val="22D3EE"/>
            </a:solidFill>
            <a:prstDash val="solid"/>
          </a:ln>
        </p:spPr>
      </p:sp>
      <p:sp>
        <p:nvSpPr>
          <p:cNvPr id="51" name="Text 48"/>
          <p:cNvSpPr txBox="1"/>
          <p:nvPr/>
        </p:nvSpPr>
        <p:spPr>
          <a:xfrm>
            <a:off x="5145329" y="1351483"/>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2</a:t>
            </a:r>
            <a:endParaRPr lang="en-US" sz="800" dirty="0"/>
          </a:p>
        </p:txBody>
      </p:sp>
      <p:sp>
        <p:nvSpPr>
          <p:cNvPr id="52" name="Shape 49"/>
          <p:cNvSpPr/>
          <p:nvPr/>
        </p:nvSpPr>
        <p:spPr>
          <a:xfrm>
            <a:off x="4973879" y="1732331"/>
            <a:ext cx="603504" cy="553212"/>
          </a:xfrm>
          <a:prstGeom prst="line">
            <a:avLst/>
          </a:prstGeom>
          <a:noFill/>
          <a:ln w="15875">
            <a:solidFill>
              <a:srgbClr val="475569"/>
            </a:solidFill>
            <a:prstDash val="solid"/>
          </a:ln>
        </p:spPr>
      </p:sp>
      <p:sp>
        <p:nvSpPr>
          <p:cNvPr id="53" name="Text 50"/>
          <p:cNvSpPr txBox="1"/>
          <p:nvPr/>
        </p:nvSpPr>
        <p:spPr>
          <a:xfrm>
            <a:off x="5145329" y="1904695"/>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3</a:t>
            </a:r>
            <a:endParaRPr lang="en-US" sz="800" dirty="0"/>
          </a:p>
        </p:txBody>
      </p:sp>
      <p:sp>
        <p:nvSpPr>
          <p:cNvPr id="54" name="Shape 51"/>
          <p:cNvSpPr/>
          <p:nvPr/>
        </p:nvSpPr>
        <p:spPr>
          <a:xfrm>
            <a:off x="5577383" y="1179119"/>
            <a:ext cx="0" cy="1106424"/>
          </a:xfrm>
          <a:prstGeom prst="line">
            <a:avLst/>
          </a:prstGeom>
          <a:noFill/>
          <a:ln w="44450">
            <a:solidFill>
              <a:srgbClr val="22D3EE"/>
            </a:solidFill>
            <a:prstDash val="solid"/>
          </a:ln>
        </p:spPr>
      </p:sp>
      <p:sp>
        <p:nvSpPr>
          <p:cNvPr id="55" name="Text 52"/>
          <p:cNvSpPr txBox="1"/>
          <p:nvPr/>
        </p:nvSpPr>
        <p:spPr>
          <a:xfrm>
            <a:off x="5447081"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1</a:t>
            </a:r>
            <a:endParaRPr lang="en-US" sz="800" dirty="0"/>
          </a:p>
        </p:txBody>
      </p:sp>
      <p:sp>
        <p:nvSpPr>
          <p:cNvPr id="56" name="Shape 53"/>
          <p:cNvSpPr/>
          <p:nvPr/>
        </p:nvSpPr>
        <p:spPr>
          <a:xfrm>
            <a:off x="5577383" y="1179119"/>
            <a:ext cx="804672" cy="0"/>
          </a:xfrm>
          <a:prstGeom prst="line">
            <a:avLst/>
          </a:prstGeom>
          <a:noFill/>
          <a:ln w="44450">
            <a:solidFill>
              <a:srgbClr val="22D3EE"/>
            </a:solidFill>
            <a:prstDash val="solid"/>
          </a:ln>
        </p:spPr>
      </p:sp>
      <p:sp>
        <p:nvSpPr>
          <p:cNvPr id="57" name="Text 54"/>
          <p:cNvSpPr txBox="1"/>
          <p:nvPr/>
        </p:nvSpPr>
        <p:spPr>
          <a:xfrm>
            <a:off x="5849417" y="1074877"/>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4</a:t>
            </a:r>
            <a:endParaRPr lang="en-US" sz="800" dirty="0"/>
          </a:p>
        </p:txBody>
      </p:sp>
      <p:sp>
        <p:nvSpPr>
          <p:cNvPr id="58" name="Shape 55"/>
          <p:cNvSpPr/>
          <p:nvPr/>
        </p:nvSpPr>
        <p:spPr>
          <a:xfrm flipV="1">
            <a:off x="5577383" y="1179119"/>
            <a:ext cx="804672" cy="1106424"/>
          </a:xfrm>
          <a:prstGeom prst="line">
            <a:avLst/>
          </a:prstGeom>
          <a:noFill/>
          <a:ln w="15875">
            <a:solidFill>
              <a:srgbClr val="475569"/>
            </a:solidFill>
            <a:prstDash val="solid"/>
          </a:ln>
        </p:spPr>
      </p:sp>
      <p:sp>
        <p:nvSpPr>
          <p:cNvPr id="59" name="Text 56"/>
          <p:cNvSpPr txBox="1"/>
          <p:nvPr/>
        </p:nvSpPr>
        <p:spPr>
          <a:xfrm>
            <a:off x="5849417"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5</a:t>
            </a:r>
            <a:endParaRPr lang="en-US" sz="800" dirty="0"/>
          </a:p>
        </p:txBody>
      </p:sp>
      <p:sp>
        <p:nvSpPr>
          <p:cNvPr id="60" name="Shape 57"/>
          <p:cNvSpPr/>
          <p:nvPr/>
        </p:nvSpPr>
        <p:spPr>
          <a:xfrm>
            <a:off x="5577383" y="2285543"/>
            <a:ext cx="804672" cy="0"/>
          </a:xfrm>
          <a:prstGeom prst="line">
            <a:avLst/>
          </a:prstGeom>
          <a:noFill/>
          <a:ln w="15875">
            <a:solidFill>
              <a:srgbClr val="475569"/>
            </a:solidFill>
            <a:prstDash val="solid"/>
          </a:ln>
        </p:spPr>
      </p:sp>
      <p:sp>
        <p:nvSpPr>
          <p:cNvPr id="61" name="Text 58"/>
          <p:cNvSpPr txBox="1"/>
          <p:nvPr/>
        </p:nvSpPr>
        <p:spPr>
          <a:xfrm>
            <a:off x="5849417" y="2181301"/>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6</a:t>
            </a:r>
            <a:endParaRPr lang="en-US" sz="800" dirty="0"/>
          </a:p>
        </p:txBody>
      </p:sp>
      <p:sp>
        <p:nvSpPr>
          <p:cNvPr id="62" name="Shape 59"/>
          <p:cNvSpPr/>
          <p:nvPr/>
        </p:nvSpPr>
        <p:spPr>
          <a:xfrm>
            <a:off x="6382055" y="1179119"/>
            <a:ext cx="0" cy="1106424"/>
          </a:xfrm>
          <a:prstGeom prst="line">
            <a:avLst/>
          </a:prstGeom>
          <a:noFill/>
          <a:ln w="15875">
            <a:solidFill>
              <a:srgbClr val="475569"/>
            </a:solidFill>
            <a:prstDash val="solid"/>
          </a:ln>
        </p:spPr>
      </p:sp>
      <p:sp>
        <p:nvSpPr>
          <p:cNvPr id="63" name="Text 60"/>
          <p:cNvSpPr txBox="1"/>
          <p:nvPr/>
        </p:nvSpPr>
        <p:spPr>
          <a:xfrm>
            <a:off x="6251753"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2</a:t>
            </a:r>
            <a:endParaRPr lang="en-US" sz="800" dirty="0"/>
          </a:p>
        </p:txBody>
      </p:sp>
      <p:sp>
        <p:nvSpPr>
          <p:cNvPr id="64" name="Text 61"/>
          <p:cNvSpPr/>
          <p:nvPr/>
        </p:nvSpPr>
        <p:spPr>
          <a:xfrm>
            <a:off x="4800600" y="1559052"/>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65" name="Text 62"/>
          <p:cNvSpPr/>
          <p:nvPr/>
        </p:nvSpPr>
        <p:spPr>
          <a:xfrm>
            <a:off x="5404104" y="1005840"/>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66" name="Text 63"/>
          <p:cNvSpPr/>
          <p:nvPr/>
        </p:nvSpPr>
        <p:spPr>
          <a:xfrm>
            <a:off x="5404104" y="2112264"/>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67" name="Text 64"/>
          <p:cNvSpPr/>
          <p:nvPr/>
        </p:nvSpPr>
        <p:spPr>
          <a:xfrm>
            <a:off x="6208776" y="1005840"/>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68" name="Text 65"/>
          <p:cNvSpPr/>
          <p:nvPr/>
        </p:nvSpPr>
        <p:spPr>
          <a:xfrm>
            <a:off x="6208776" y="2112264"/>
            <a:ext cx="346558" cy="346558"/>
          </a:xfrm>
          <a:prstGeom prst="ellipse">
            <a:avLst/>
          </a:prstGeom>
          <a:solidFill>
            <a:srgbClr val="141B3A"/>
          </a:solidFill>
          <a:ln w="19050">
            <a:solidFill>
              <a:srgbClr val="475569"/>
            </a:solidFill>
          </a:ln>
        </p:spPr>
        <p:txBody>
          <a:bodyPr wrap="square" lIns="0" tIns="0" rIns="0" bIns="0" rtlCol="0" anchor="ctr"/>
          <a:lstStyle/>
          <a:p>
            <a:pPr algn="ctr" indent="0" marL="0">
              <a:buNone/>
            </a:pPr>
            <a:r>
              <a:rPr lang="en-US" sz="1100" b="1" dirty="0">
                <a:solidFill>
                  <a:srgbClr val="FFFFFF"/>
                </a:solidFill>
              </a:rPr>
              <a:t>E</a:t>
            </a:r>
            <a:endParaRPr lang="en-US" sz="1100" dirty="0"/>
          </a:p>
        </p:txBody>
      </p:sp>
      <p:sp>
        <p:nvSpPr>
          <p:cNvPr id="69" name="Text 66"/>
          <p:cNvSpPr txBox="1"/>
          <p:nvPr/>
        </p:nvSpPr>
        <p:spPr>
          <a:xfrm>
            <a:off x="4727448" y="2697480"/>
            <a:ext cx="1920240" cy="1097280"/>
          </a:xfrm>
          <a:prstGeom prst="rect">
            <a:avLst/>
          </a:prstGeom>
          <a:noFill/>
          <a:ln/>
        </p:spPr>
        <p:txBody>
          <a:bodyPr wrap="square" lIns="0" tIns="0" rIns="0" bIns="0" rtlCol="0" anchor="t"/>
          <a:lstStyle/>
          <a:p>
            <a:pPr indent="0" marL="0">
              <a:spcAft>
                <a:spcPts val="300"/>
              </a:spcAft>
              <a:buNone/>
            </a:pPr>
            <a:r>
              <a:rPr lang="en-US" sz="950" b="1" dirty="0">
                <a:solidFill>
                  <a:srgbClr val="22D3EE"/>
                </a:solidFill>
                <a:latin typeface="Calibri" pitchFamily="34" charset="0"/>
                <a:ea typeface="Calibri" pitchFamily="34" charset="-122"/>
                <a:cs typeface="Calibri" pitchFamily="34" charset="-120"/>
              </a:rPr>
              <a:t>STEP 3   Tree {A,B,C}</a:t>
            </a:r>
            <a:endParaRPr lang="en-US" sz="950" dirty="0"/>
          </a:p>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Eligible: B-D 4, C-D 5, C-E 6</a:t>
            </a:r>
            <a:endParaRPr lang="en-US" sz="950" dirty="0"/>
          </a:p>
          <a:p>
            <a:pPr indent="0" marL="0">
              <a:spcAft>
                <a:spcPts val="300"/>
              </a:spcAft>
              <a:buNone/>
            </a:pPr>
            <a:r>
              <a:rPr lang="en-US" sz="950" b="1" dirty="0">
                <a:solidFill>
                  <a:srgbClr val="FFFFFF"/>
                </a:solidFill>
                <a:latin typeface="Calibri" pitchFamily="34" charset="0"/>
                <a:ea typeface="Calibri" pitchFamily="34" charset="-122"/>
                <a:cs typeface="Calibri" pitchFamily="34" charset="-120"/>
              </a:rPr>
              <a:t>Pick B-D (4): smallest; adds D</a:t>
            </a:r>
            <a:endParaRPr lang="en-US" sz="950" dirty="0"/>
          </a:p>
        </p:txBody>
      </p:sp>
      <p:sp>
        <p:nvSpPr>
          <p:cNvPr id="70" name="Shape 67"/>
          <p:cNvSpPr/>
          <p:nvPr/>
        </p:nvSpPr>
        <p:spPr>
          <a:xfrm>
            <a:off x="6812280" y="868680"/>
            <a:ext cx="2103120" cy="2926080"/>
          </a:xfrm>
          <a:prstGeom prst="roundRect">
            <a:avLst>
              <a:gd name="adj" fmla="val 3478"/>
            </a:avLst>
          </a:prstGeom>
          <a:solidFill>
            <a:srgbClr val="141B3A"/>
          </a:solidFill>
          <a:ln w="12700">
            <a:solidFill>
              <a:srgbClr val="A855F7"/>
            </a:solidFill>
            <a:prstDash val="solid"/>
          </a:ln>
        </p:spPr>
      </p:sp>
      <p:sp>
        <p:nvSpPr>
          <p:cNvPr id="71" name="Shape 68"/>
          <p:cNvSpPr/>
          <p:nvPr/>
        </p:nvSpPr>
        <p:spPr>
          <a:xfrm flipV="1">
            <a:off x="7168439" y="1179119"/>
            <a:ext cx="603504" cy="553212"/>
          </a:xfrm>
          <a:prstGeom prst="line">
            <a:avLst/>
          </a:prstGeom>
          <a:noFill/>
          <a:ln w="44450">
            <a:solidFill>
              <a:srgbClr val="22D3EE"/>
            </a:solidFill>
            <a:prstDash val="solid"/>
          </a:ln>
        </p:spPr>
      </p:sp>
      <p:sp>
        <p:nvSpPr>
          <p:cNvPr id="72" name="Text 69"/>
          <p:cNvSpPr txBox="1"/>
          <p:nvPr/>
        </p:nvSpPr>
        <p:spPr>
          <a:xfrm>
            <a:off x="7339889" y="1351483"/>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2</a:t>
            </a:r>
            <a:endParaRPr lang="en-US" sz="800" dirty="0"/>
          </a:p>
        </p:txBody>
      </p:sp>
      <p:sp>
        <p:nvSpPr>
          <p:cNvPr id="73" name="Shape 70"/>
          <p:cNvSpPr/>
          <p:nvPr/>
        </p:nvSpPr>
        <p:spPr>
          <a:xfrm>
            <a:off x="7168439" y="1732331"/>
            <a:ext cx="603504" cy="553212"/>
          </a:xfrm>
          <a:prstGeom prst="line">
            <a:avLst/>
          </a:prstGeom>
          <a:noFill/>
          <a:ln w="15875">
            <a:solidFill>
              <a:srgbClr val="475569"/>
            </a:solidFill>
            <a:prstDash val="solid"/>
          </a:ln>
        </p:spPr>
      </p:sp>
      <p:sp>
        <p:nvSpPr>
          <p:cNvPr id="74" name="Text 71"/>
          <p:cNvSpPr txBox="1"/>
          <p:nvPr/>
        </p:nvSpPr>
        <p:spPr>
          <a:xfrm>
            <a:off x="7339889" y="1904695"/>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3</a:t>
            </a:r>
            <a:endParaRPr lang="en-US" sz="800" dirty="0"/>
          </a:p>
        </p:txBody>
      </p:sp>
      <p:sp>
        <p:nvSpPr>
          <p:cNvPr id="75" name="Shape 72"/>
          <p:cNvSpPr/>
          <p:nvPr/>
        </p:nvSpPr>
        <p:spPr>
          <a:xfrm>
            <a:off x="7771943" y="1179119"/>
            <a:ext cx="0" cy="1106424"/>
          </a:xfrm>
          <a:prstGeom prst="line">
            <a:avLst/>
          </a:prstGeom>
          <a:noFill/>
          <a:ln w="44450">
            <a:solidFill>
              <a:srgbClr val="22D3EE"/>
            </a:solidFill>
            <a:prstDash val="solid"/>
          </a:ln>
        </p:spPr>
      </p:sp>
      <p:sp>
        <p:nvSpPr>
          <p:cNvPr id="76" name="Text 73"/>
          <p:cNvSpPr txBox="1"/>
          <p:nvPr/>
        </p:nvSpPr>
        <p:spPr>
          <a:xfrm>
            <a:off x="7641641"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1</a:t>
            </a:r>
            <a:endParaRPr lang="en-US" sz="800" dirty="0"/>
          </a:p>
        </p:txBody>
      </p:sp>
      <p:sp>
        <p:nvSpPr>
          <p:cNvPr id="77" name="Shape 74"/>
          <p:cNvSpPr/>
          <p:nvPr/>
        </p:nvSpPr>
        <p:spPr>
          <a:xfrm>
            <a:off x="7771943" y="1179119"/>
            <a:ext cx="804672" cy="0"/>
          </a:xfrm>
          <a:prstGeom prst="line">
            <a:avLst/>
          </a:prstGeom>
          <a:noFill/>
          <a:ln w="44450">
            <a:solidFill>
              <a:srgbClr val="22D3EE"/>
            </a:solidFill>
            <a:prstDash val="solid"/>
          </a:ln>
        </p:spPr>
      </p:sp>
      <p:sp>
        <p:nvSpPr>
          <p:cNvPr id="78" name="Text 75"/>
          <p:cNvSpPr txBox="1"/>
          <p:nvPr/>
        </p:nvSpPr>
        <p:spPr>
          <a:xfrm>
            <a:off x="8043977" y="1074877"/>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4</a:t>
            </a:r>
            <a:endParaRPr lang="en-US" sz="800" dirty="0"/>
          </a:p>
        </p:txBody>
      </p:sp>
      <p:sp>
        <p:nvSpPr>
          <p:cNvPr id="79" name="Shape 76"/>
          <p:cNvSpPr/>
          <p:nvPr/>
        </p:nvSpPr>
        <p:spPr>
          <a:xfrm flipV="1">
            <a:off x="7771943" y="1179119"/>
            <a:ext cx="804672" cy="1106424"/>
          </a:xfrm>
          <a:prstGeom prst="line">
            <a:avLst/>
          </a:prstGeom>
          <a:noFill/>
          <a:ln w="15875">
            <a:solidFill>
              <a:srgbClr val="475569"/>
            </a:solidFill>
            <a:prstDash val="solid"/>
          </a:ln>
        </p:spPr>
      </p:sp>
      <p:sp>
        <p:nvSpPr>
          <p:cNvPr id="80" name="Text 77"/>
          <p:cNvSpPr txBox="1"/>
          <p:nvPr/>
        </p:nvSpPr>
        <p:spPr>
          <a:xfrm>
            <a:off x="8043977"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5</a:t>
            </a:r>
            <a:endParaRPr lang="en-US" sz="800" dirty="0"/>
          </a:p>
        </p:txBody>
      </p:sp>
      <p:sp>
        <p:nvSpPr>
          <p:cNvPr id="81" name="Shape 78"/>
          <p:cNvSpPr/>
          <p:nvPr/>
        </p:nvSpPr>
        <p:spPr>
          <a:xfrm>
            <a:off x="7771943" y="2285543"/>
            <a:ext cx="804672" cy="0"/>
          </a:xfrm>
          <a:prstGeom prst="line">
            <a:avLst/>
          </a:prstGeom>
          <a:noFill/>
          <a:ln w="15875">
            <a:solidFill>
              <a:srgbClr val="475569"/>
            </a:solidFill>
            <a:prstDash val="solid"/>
          </a:ln>
        </p:spPr>
      </p:sp>
      <p:sp>
        <p:nvSpPr>
          <p:cNvPr id="82" name="Text 79"/>
          <p:cNvSpPr txBox="1"/>
          <p:nvPr/>
        </p:nvSpPr>
        <p:spPr>
          <a:xfrm>
            <a:off x="8043977" y="2181301"/>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E2E8F0"/>
                </a:solidFill>
              </a:rPr>
              <a:t>6</a:t>
            </a:r>
            <a:endParaRPr lang="en-US" sz="800" dirty="0"/>
          </a:p>
        </p:txBody>
      </p:sp>
      <p:sp>
        <p:nvSpPr>
          <p:cNvPr id="83" name="Shape 80"/>
          <p:cNvSpPr/>
          <p:nvPr/>
        </p:nvSpPr>
        <p:spPr>
          <a:xfrm>
            <a:off x="8576615" y="1179119"/>
            <a:ext cx="0" cy="1106424"/>
          </a:xfrm>
          <a:prstGeom prst="line">
            <a:avLst/>
          </a:prstGeom>
          <a:noFill/>
          <a:ln w="44450">
            <a:solidFill>
              <a:srgbClr val="22D3EE"/>
            </a:solidFill>
            <a:prstDash val="solid"/>
          </a:ln>
        </p:spPr>
      </p:sp>
      <p:sp>
        <p:nvSpPr>
          <p:cNvPr id="84" name="Text 81"/>
          <p:cNvSpPr txBox="1"/>
          <p:nvPr/>
        </p:nvSpPr>
        <p:spPr>
          <a:xfrm>
            <a:off x="8446313" y="1628089"/>
            <a:ext cx="260604" cy="208483"/>
          </a:xfrm>
          <a:prstGeom prst="rect">
            <a:avLst/>
          </a:prstGeom>
          <a:solidFill>
            <a:srgbClr val="0B1026"/>
          </a:solidFill>
          <a:ln/>
        </p:spPr>
        <p:txBody>
          <a:bodyPr wrap="square" lIns="0" tIns="0" rIns="0" bIns="0" rtlCol="0" anchor="ctr"/>
          <a:lstStyle/>
          <a:p>
            <a:pPr algn="ctr" indent="0" marL="0">
              <a:buNone/>
            </a:pPr>
            <a:r>
              <a:rPr lang="en-US" sz="800" b="1" dirty="0">
                <a:solidFill>
                  <a:srgbClr val="22D3EE"/>
                </a:solidFill>
              </a:rPr>
              <a:t>2</a:t>
            </a:r>
            <a:endParaRPr lang="en-US" sz="800" dirty="0"/>
          </a:p>
        </p:txBody>
      </p:sp>
      <p:sp>
        <p:nvSpPr>
          <p:cNvPr id="85" name="Text 82"/>
          <p:cNvSpPr/>
          <p:nvPr/>
        </p:nvSpPr>
        <p:spPr>
          <a:xfrm>
            <a:off x="6995160" y="1559052"/>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86" name="Text 83"/>
          <p:cNvSpPr/>
          <p:nvPr/>
        </p:nvSpPr>
        <p:spPr>
          <a:xfrm>
            <a:off x="7598664" y="1005840"/>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87" name="Text 84"/>
          <p:cNvSpPr/>
          <p:nvPr/>
        </p:nvSpPr>
        <p:spPr>
          <a:xfrm>
            <a:off x="7598664" y="2112264"/>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88" name="Text 85"/>
          <p:cNvSpPr/>
          <p:nvPr/>
        </p:nvSpPr>
        <p:spPr>
          <a:xfrm>
            <a:off x="8403336" y="1005840"/>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89" name="Text 86"/>
          <p:cNvSpPr/>
          <p:nvPr/>
        </p:nvSpPr>
        <p:spPr>
          <a:xfrm>
            <a:off x="8403336" y="2112264"/>
            <a:ext cx="346558" cy="346558"/>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100" b="1" dirty="0">
                <a:solidFill>
                  <a:srgbClr val="FFFFFF"/>
                </a:solidFill>
              </a:rPr>
              <a:t>E</a:t>
            </a:r>
            <a:endParaRPr lang="en-US" sz="1100" dirty="0"/>
          </a:p>
        </p:txBody>
      </p:sp>
      <p:sp>
        <p:nvSpPr>
          <p:cNvPr id="90" name="Text 87"/>
          <p:cNvSpPr txBox="1"/>
          <p:nvPr/>
        </p:nvSpPr>
        <p:spPr>
          <a:xfrm>
            <a:off x="6922008" y="2697480"/>
            <a:ext cx="1920240" cy="1097280"/>
          </a:xfrm>
          <a:prstGeom prst="rect">
            <a:avLst/>
          </a:prstGeom>
          <a:noFill/>
          <a:ln/>
        </p:spPr>
        <p:txBody>
          <a:bodyPr wrap="square" lIns="0" tIns="0" rIns="0" bIns="0" rtlCol="0" anchor="t"/>
          <a:lstStyle/>
          <a:p>
            <a:pPr indent="0" marL="0">
              <a:spcAft>
                <a:spcPts val="300"/>
              </a:spcAft>
              <a:buNone/>
            </a:pPr>
            <a:r>
              <a:rPr lang="en-US" sz="950" b="1" dirty="0">
                <a:solidFill>
                  <a:srgbClr val="22D3EE"/>
                </a:solidFill>
                <a:latin typeface="Calibri" pitchFamily="34" charset="0"/>
                <a:ea typeface="Calibri" pitchFamily="34" charset="-122"/>
                <a:cs typeface="Calibri" pitchFamily="34" charset="-120"/>
              </a:rPr>
              <a:t>STEP 4   Tree {A,B,C,D}</a:t>
            </a:r>
            <a:endParaRPr lang="en-US" sz="950" dirty="0"/>
          </a:p>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Eligible: C-E 6, D-E 2</a:t>
            </a:r>
            <a:endParaRPr lang="en-US" sz="950" dirty="0"/>
          </a:p>
          <a:p>
            <a:pPr indent="0" marL="0">
              <a:spcAft>
                <a:spcPts val="300"/>
              </a:spcAft>
              <a:buNone/>
            </a:pPr>
            <a:r>
              <a:rPr lang="en-US" sz="950" b="1" dirty="0">
                <a:solidFill>
                  <a:srgbClr val="FFFFFF"/>
                </a:solidFill>
                <a:latin typeface="Calibri" pitchFamily="34" charset="0"/>
                <a:ea typeface="Calibri" pitchFamily="34" charset="-122"/>
                <a:cs typeface="Calibri" pitchFamily="34" charset="-120"/>
              </a:rPr>
              <a:t>Pick D-E (2): smallest; adds E</a:t>
            </a:r>
            <a:endParaRPr lang="en-US" sz="950" dirty="0"/>
          </a:p>
        </p:txBody>
      </p:sp>
      <p:sp>
        <p:nvSpPr>
          <p:cNvPr id="91" name="Text 88"/>
          <p:cNvSpPr txBox="1"/>
          <p:nvPr/>
        </p:nvSpPr>
        <p:spPr>
          <a:xfrm>
            <a:off x="365760" y="3931920"/>
            <a:ext cx="8412480" cy="6400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Skipped: A-C (3), C-D (5), C-E (6) - each would join a vertex already in the tree or cost more than the cheapest option. Blue = in tree, dark = not yet visited, cyan edge = chosen.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Final MST and Total Weight</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7</a:t>
            </a:r>
            <a:endParaRPr lang="en-US" sz="800" dirty="0"/>
          </a:p>
        </p:txBody>
      </p:sp>
      <p:sp>
        <p:nvSpPr>
          <p:cNvPr id="7" name="Text 4"/>
          <p:cNvSpPr txBox="1"/>
          <p:nvPr/>
        </p:nvSpPr>
        <p:spPr>
          <a:xfrm>
            <a:off x="457200" y="914400"/>
            <a:ext cx="2743200" cy="228600"/>
          </a:xfrm>
          <a:prstGeom prst="rect">
            <a:avLst/>
          </a:prstGeom>
          <a:noFill/>
          <a:ln/>
        </p:spPr>
        <p:txBody>
          <a:bodyPr wrap="square" lIns="0" tIns="0" rIns="0" bIns="0" rtlCol="0" anchor="t"/>
          <a:lstStyle/>
          <a:p>
            <a:pPr indent="0" marL="0">
              <a:buNone/>
            </a:pPr>
            <a:r>
              <a:rPr lang="en-US" sz="1200" b="1" dirty="0">
                <a:solidFill>
                  <a:srgbClr val="94A3B8"/>
                </a:solidFill>
                <a:latin typeface="Calibri" pitchFamily="34" charset="0"/>
                <a:ea typeface="Calibri" pitchFamily="34" charset="-122"/>
                <a:cs typeface="Calibri" pitchFamily="34" charset="-120"/>
              </a:rPr>
              <a:t>Original graph</a:t>
            </a:r>
            <a:endParaRPr lang="en-US" sz="1200" dirty="0"/>
          </a:p>
        </p:txBody>
      </p:sp>
      <p:sp>
        <p:nvSpPr>
          <p:cNvPr id="8" name="Shape 5"/>
          <p:cNvSpPr/>
          <p:nvPr/>
        </p:nvSpPr>
        <p:spPr>
          <a:xfrm flipV="1">
            <a:off x="651053" y="1474013"/>
            <a:ext cx="877824" cy="804672"/>
          </a:xfrm>
          <a:prstGeom prst="line">
            <a:avLst/>
          </a:prstGeom>
          <a:noFill/>
          <a:ln w="15875">
            <a:solidFill>
              <a:srgbClr val="475569"/>
            </a:solidFill>
            <a:prstDash val="solid"/>
          </a:ln>
        </p:spPr>
      </p:sp>
      <p:sp>
        <p:nvSpPr>
          <p:cNvPr id="9" name="Text 6"/>
          <p:cNvSpPr txBox="1"/>
          <p:nvPr/>
        </p:nvSpPr>
        <p:spPr>
          <a:xfrm>
            <a:off x="925373" y="1744675"/>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E2E8F0"/>
                </a:solidFill>
              </a:rPr>
              <a:t>2</a:t>
            </a:r>
            <a:endParaRPr lang="en-US" sz="1000" dirty="0"/>
          </a:p>
        </p:txBody>
      </p:sp>
      <p:sp>
        <p:nvSpPr>
          <p:cNvPr id="10" name="Shape 7"/>
          <p:cNvSpPr/>
          <p:nvPr/>
        </p:nvSpPr>
        <p:spPr>
          <a:xfrm>
            <a:off x="651053" y="2278685"/>
            <a:ext cx="877824" cy="804672"/>
          </a:xfrm>
          <a:prstGeom prst="line">
            <a:avLst/>
          </a:prstGeom>
          <a:noFill/>
          <a:ln w="15875">
            <a:solidFill>
              <a:srgbClr val="475569"/>
            </a:solidFill>
            <a:prstDash val="solid"/>
          </a:ln>
        </p:spPr>
      </p:sp>
      <p:sp>
        <p:nvSpPr>
          <p:cNvPr id="11" name="Text 8"/>
          <p:cNvSpPr txBox="1"/>
          <p:nvPr/>
        </p:nvSpPr>
        <p:spPr>
          <a:xfrm>
            <a:off x="925373" y="2549347"/>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E2E8F0"/>
                </a:solidFill>
              </a:rPr>
              <a:t>3</a:t>
            </a:r>
            <a:endParaRPr lang="en-US" sz="1000" dirty="0"/>
          </a:p>
        </p:txBody>
      </p:sp>
      <p:sp>
        <p:nvSpPr>
          <p:cNvPr id="12" name="Shape 9"/>
          <p:cNvSpPr/>
          <p:nvPr/>
        </p:nvSpPr>
        <p:spPr>
          <a:xfrm>
            <a:off x="1528877" y="1474013"/>
            <a:ext cx="0" cy="1609344"/>
          </a:xfrm>
          <a:prstGeom prst="line">
            <a:avLst/>
          </a:prstGeom>
          <a:noFill/>
          <a:ln w="15875">
            <a:solidFill>
              <a:srgbClr val="475569"/>
            </a:solidFill>
            <a:prstDash val="solid"/>
          </a:ln>
        </p:spPr>
      </p:sp>
      <p:sp>
        <p:nvSpPr>
          <p:cNvPr id="13" name="Text 10"/>
          <p:cNvSpPr txBox="1"/>
          <p:nvPr/>
        </p:nvSpPr>
        <p:spPr>
          <a:xfrm>
            <a:off x="1364285" y="2147011"/>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E2E8F0"/>
                </a:solidFill>
              </a:rPr>
              <a:t>1</a:t>
            </a:r>
            <a:endParaRPr lang="en-US" sz="1000" dirty="0"/>
          </a:p>
        </p:txBody>
      </p:sp>
      <p:sp>
        <p:nvSpPr>
          <p:cNvPr id="14" name="Shape 11"/>
          <p:cNvSpPr/>
          <p:nvPr/>
        </p:nvSpPr>
        <p:spPr>
          <a:xfrm>
            <a:off x="1528877" y="1474013"/>
            <a:ext cx="1170432" cy="0"/>
          </a:xfrm>
          <a:prstGeom prst="line">
            <a:avLst/>
          </a:prstGeom>
          <a:noFill/>
          <a:ln w="15875">
            <a:solidFill>
              <a:srgbClr val="475569"/>
            </a:solidFill>
            <a:prstDash val="solid"/>
          </a:ln>
        </p:spPr>
      </p:sp>
      <p:sp>
        <p:nvSpPr>
          <p:cNvPr id="15" name="Text 12"/>
          <p:cNvSpPr txBox="1"/>
          <p:nvPr/>
        </p:nvSpPr>
        <p:spPr>
          <a:xfrm>
            <a:off x="1949501" y="1342339"/>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E2E8F0"/>
                </a:solidFill>
              </a:rPr>
              <a:t>4</a:t>
            </a:r>
            <a:endParaRPr lang="en-US" sz="1000" dirty="0"/>
          </a:p>
        </p:txBody>
      </p:sp>
      <p:sp>
        <p:nvSpPr>
          <p:cNvPr id="16" name="Shape 13"/>
          <p:cNvSpPr/>
          <p:nvPr/>
        </p:nvSpPr>
        <p:spPr>
          <a:xfrm flipV="1">
            <a:off x="1528877" y="1474013"/>
            <a:ext cx="1170432" cy="1609344"/>
          </a:xfrm>
          <a:prstGeom prst="line">
            <a:avLst/>
          </a:prstGeom>
          <a:noFill/>
          <a:ln w="15875">
            <a:solidFill>
              <a:srgbClr val="475569"/>
            </a:solidFill>
            <a:prstDash val="solid"/>
          </a:ln>
        </p:spPr>
      </p:sp>
      <p:sp>
        <p:nvSpPr>
          <p:cNvPr id="17" name="Text 14"/>
          <p:cNvSpPr txBox="1"/>
          <p:nvPr/>
        </p:nvSpPr>
        <p:spPr>
          <a:xfrm>
            <a:off x="1949501" y="2147011"/>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E2E8F0"/>
                </a:solidFill>
              </a:rPr>
              <a:t>5</a:t>
            </a:r>
            <a:endParaRPr lang="en-US" sz="1000" dirty="0"/>
          </a:p>
        </p:txBody>
      </p:sp>
      <p:sp>
        <p:nvSpPr>
          <p:cNvPr id="18" name="Shape 15"/>
          <p:cNvSpPr/>
          <p:nvPr/>
        </p:nvSpPr>
        <p:spPr>
          <a:xfrm>
            <a:off x="1528877" y="3083357"/>
            <a:ext cx="1170432" cy="0"/>
          </a:xfrm>
          <a:prstGeom prst="line">
            <a:avLst/>
          </a:prstGeom>
          <a:noFill/>
          <a:ln w="15875">
            <a:solidFill>
              <a:srgbClr val="475569"/>
            </a:solidFill>
            <a:prstDash val="solid"/>
          </a:ln>
        </p:spPr>
      </p:sp>
      <p:sp>
        <p:nvSpPr>
          <p:cNvPr id="19" name="Text 16"/>
          <p:cNvSpPr txBox="1"/>
          <p:nvPr/>
        </p:nvSpPr>
        <p:spPr>
          <a:xfrm>
            <a:off x="1949501" y="2951683"/>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E2E8F0"/>
                </a:solidFill>
              </a:rPr>
              <a:t>6</a:t>
            </a:r>
            <a:endParaRPr lang="en-US" sz="1000" dirty="0"/>
          </a:p>
        </p:txBody>
      </p:sp>
      <p:sp>
        <p:nvSpPr>
          <p:cNvPr id="20" name="Shape 17"/>
          <p:cNvSpPr/>
          <p:nvPr/>
        </p:nvSpPr>
        <p:spPr>
          <a:xfrm>
            <a:off x="2699309" y="1474013"/>
            <a:ext cx="0" cy="1609344"/>
          </a:xfrm>
          <a:prstGeom prst="line">
            <a:avLst/>
          </a:prstGeom>
          <a:noFill/>
          <a:ln w="15875">
            <a:solidFill>
              <a:srgbClr val="475569"/>
            </a:solidFill>
            <a:prstDash val="solid"/>
          </a:ln>
        </p:spPr>
      </p:sp>
      <p:sp>
        <p:nvSpPr>
          <p:cNvPr id="21" name="Text 18"/>
          <p:cNvSpPr txBox="1"/>
          <p:nvPr/>
        </p:nvSpPr>
        <p:spPr>
          <a:xfrm>
            <a:off x="2534717" y="2147011"/>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E2E8F0"/>
                </a:solidFill>
              </a:rPr>
              <a:t>2</a:t>
            </a:r>
            <a:endParaRPr lang="en-US" sz="1000" dirty="0"/>
          </a:p>
        </p:txBody>
      </p:sp>
      <p:sp>
        <p:nvSpPr>
          <p:cNvPr id="22" name="Text 19"/>
          <p:cNvSpPr/>
          <p:nvPr/>
        </p:nvSpPr>
        <p:spPr>
          <a:xfrm>
            <a:off x="457200" y="2084832"/>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3" name="Text 20"/>
          <p:cNvSpPr/>
          <p:nvPr/>
        </p:nvSpPr>
        <p:spPr>
          <a:xfrm>
            <a:off x="1335024" y="1280160"/>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24" name="Text 21"/>
          <p:cNvSpPr/>
          <p:nvPr/>
        </p:nvSpPr>
        <p:spPr>
          <a:xfrm>
            <a:off x="1335024" y="2889504"/>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25" name="Text 22"/>
          <p:cNvSpPr/>
          <p:nvPr/>
        </p:nvSpPr>
        <p:spPr>
          <a:xfrm>
            <a:off x="2505456" y="1280160"/>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26" name="Text 23"/>
          <p:cNvSpPr/>
          <p:nvPr/>
        </p:nvSpPr>
        <p:spPr>
          <a:xfrm>
            <a:off x="2505456" y="2889504"/>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27" name="Text 24"/>
          <p:cNvSpPr txBox="1"/>
          <p:nvPr/>
        </p:nvSpPr>
        <p:spPr>
          <a:xfrm>
            <a:off x="4572000" y="914400"/>
            <a:ext cx="2743200" cy="22860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Minimum spanning tree</a:t>
            </a:r>
            <a:endParaRPr lang="en-US" sz="1200" dirty="0"/>
          </a:p>
        </p:txBody>
      </p:sp>
      <p:sp>
        <p:nvSpPr>
          <p:cNvPr id="28" name="Shape 25"/>
          <p:cNvSpPr/>
          <p:nvPr/>
        </p:nvSpPr>
        <p:spPr>
          <a:xfrm flipV="1">
            <a:off x="4765853" y="1474013"/>
            <a:ext cx="877824" cy="804672"/>
          </a:xfrm>
          <a:prstGeom prst="line">
            <a:avLst/>
          </a:prstGeom>
          <a:noFill/>
          <a:ln w="44450">
            <a:solidFill>
              <a:srgbClr val="22D3EE"/>
            </a:solidFill>
            <a:prstDash val="solid"/>
          </a:ln>
        </p:spPr>
      </p:sp>
      <p:sp>
        <p:nvSpPr>
          <p:cNvPr id="29" name="Text 26"/>
          <p:cNvSpPr txBox="1"/>
          <p:nvPr/>
        </p:nvSpPr>
        <p:spPr>
          <a:xfrm>
            <a:off x="5040173" y="1744675"/>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22D3EE"/>
                </a:solidFill>
              </a:rPr>
              <a:t>2</a:t>
            </a:r>
            <a:endParaRPr lang="en-US" sz="1000" dirty="0"/>
          </a:p>
        </p:txBody>
      </p:sp>
      <p:sp>
        <p:nvSpPr>
          <p:cNvPr id="30" name="Shape 27"/>
          <p:cNvSpPr/>
          <p:nvPr/>
        </p:nvSpPr>
        <p:spPr>
          <a:xfrm>
            <a:off x="5643677" y="1474013"/>
            <a:ext cx="0" cy="1609344"/>
          </a:xfrm>
          <a:prstGeom prst="line">
            <a:avLst/>
          </a:prstGeom>
          <a:noFill/>
          <a:ln w="44450">
            <a:solidFill>
              <a:srgbClr val="22D3EE"/>
            </a:solidFill>
            <a:prstDash val="solid"/>
          </a:ln>
        </p:spPr>
      </p:sp>
      <p:sp>
        <p:nvSpPr>
          <p:cNvPr id="31" name="Text 28"/>
          <p:cNvSpPr txBox="1"/>
          <p:nvPr/>
        </p:nvSpPr>
        <p:spPr>
          <a:xfrm>
            <a:off x="5479085" y="2147011"/>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22D3EE"/>
                </a:solidFill>
              </a:rPr>
              <a:t>1</a:t>
            </a:r>
            <a:endParaRPr lang="en-US" sz="1000" dirty="0"/>
          </a:p>
        </p:txBody>
      </p:sp>
      <p:sp>
        <p:nvSpPr>
          <p:cNvPr id="32" name="Shape 29"/>
          <p:cNvSpPr/>
          <p:nvPr/>
        </p:nvSpPr>
        <p:spPr>
          <a:xfrm>
            <a:off x="5643677" y="1474013"/>
            <a:ext cx="1170432" cy="0"/>
          </a:xfrm>
          <a:prstGeom prst="line">
            <a:avLst/>
          </a:prstGeom>
          <a:noFill/>
          <a:ln w="44450">
            <a:solidFill>
              <a:srgbClr val="22D3EE"/>
            </a:solidFill>
            <a:prstDash val="solid"/>
          </a:ln>
        </p:spPr>
      </p:sp>
      <p:sp>
        <p:nvSpPr>
          <p:cNvPr id="33" name="Text 30"/>
          <p:cNvSpPr txBox="1"/>
          <p:nvPr/>
        </p:nvSpPr>
        <p:spPr>
          <a:xfrm>
            <a:off x="6064301" y="1342339"/>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22D3EE"/>
                </a:solidFill>
              </a:rPr>
              <a:t>4</a:t>
            </a:r>
            <a:endParaRPr lang="en-US" sz="1000" dirty="0"/>
          </a:p>
        </p:txBody>
      </p:sp>
      <p:sp>
        <p:nvSpPr>
          <p:cNvPr id="34" name="Shape 31"/>
          <p:cNvSpPr/>
          <p:nvPr/>
        </p:nvSpPr>
        <p:spPr>
          <a:xfrm>
            <a:off x="6814109" y="1474013"/>
            <a:ext cx="0" cy="1609344"/>
          </a:xfrm>
          <a:prstGeom prst="line">
            <a:avLst/>
          </a:prstGeom>
          <a:noFill/>
          <a:ln w="44450">
            <a:solidFill>
              <a:srgbClr val="22D3EE"/>
            </a:solidFill>
            <a:prstDash val="solid"/>
          </a:ln>
        </p:spPr>
      </p:sp>
      <p:sp>
        <p:nvSpPr>
          <p:cNvPr id="35" name="Text 32"/>
          <p:cNvSpPr txBox="1"/>
          <p:nvPr/>
        </p:nvSpPr>
        <p:spPr>
          <a:xfrm>
            <a:off x="6649517" y="2147011"/>
            <a:ext cx="329184" cy="263347"/>
          </a:xfrm>
          <a:prstGeom prst="rect">
            <a:avLst/>
          </a:prstGeom>
          <a:solidFill>
            <a:srgbClr val="0B1026"/>
          </a:solidFill>
          <a:ln/>
        </p:spPr>
        <p:txBody>
          <a:bodyPr wrap="square" lIns="0" tIns="0" rIns="0" bIns="0" rtlCol="0" anchor="ctr"/>
          <a:lstStyle/>
          <a:p>
            <a:pPr algn="ctr" indent="0" marL="0">
              <a:buNone/>
            </a:pPr>
            <a:r>
              <a:rPr lang="en-US" sz="1000" b="1" dirty="0">
                <a:solidFill>
                  <a:srgbClr val="22D3EE"/>
                </a:solidFill>
              </a:rPr>
              <a:t>2</a:t>
            </a:r>
            <a:endParaRPr lang="en-US" sz="1000" dirty="0"/>
          </a:p>
        </p:txBody>
      </p:sp>
      <p:sp>
        <p:nvSpPr>
          <p:cNvPr id="36" name="Text 33"/>
          <p:cNvSpPr/>
          <p:nvPr/>
        </p:nvSpPr>
        <p:spPr>
          <a:xfrm>
            <a:off x="4572000" y="2084832"/>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37" name="Text 34"/>
          <p:cNvSpPr/>
          <p:nvPr/>
        </p:nvSpPr>
        <p:spPr>
          <a:xfrm>
            <a:off x="5449824" y="1280160"/>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38" name="Text 35"/>
          <p:cNvSpPr/>
          <p:nvPr/>
        </p:nvSpPr>
        <p:spPr>
          <a:xfrm>
            <a:off x="5449824" y="2889504"/>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39" name="Text 36"/>
          <p:cNvSpPr/>
          <p:nvPr/>
        </p:nvSpPr>
        <p:spPr>
          <a:xfrm>
            <a:off x="6620256" y="1280160"/>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40" name="Text 37"/>
          <p:cNvSpPr/>
          <p:nvPr/>
        </p:nvSpPr>
        <p:spPr>
          <a:xfrm>
            <a:off x="6620256" y="2889504"/>
            <a:ext cx="387706" cy="387706"/>
          </a:xfrm>
          <a:prstGeom prst="ellipse">
            <a:avLst/>
          </a:prstGeom>
          <a:solidFill>
            <a:srgbClr val="3B82F6"/>
          </a:solidFill>
          <a:ln w="19050">
            <a:solidFill>
              <a:srgbClr val="22D3EE"/>
            </a:solid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41" name="Shape 38"/>
          <p:cNvSpPr/>
          <p:nvPr/>
        </p:nvSpPr>
        <p:spPr>
          <a:xfrm>
            <a:off x="457200" y="3611880"/>
            <a:ext cx="2651760" cy="1005840"/>
          </a:xfrm>
          <a:prstGeom prst="roundRect">
            <a:avLst>
              <a:gd name="adj" fmla="val 7273"/>
            </a:avLst>
          </a:prstGeom>
          <a:solidFill>
            <a:srgbClr val="141B3A"/>
          </a:solidFill>
          <a:ln w="12700">
            <a:solidFill>
              <a:srgbClr val="22D3EE"/>
            </a:solidFill>
            <a:prstDash val="solid"/>
          </a:ln>
        </p:spPr>
      </p:sp>
      <p:sp>
        <p:nvSpPr>
          <p:cNvPr id="42" name="Text 39"/>
          <p:cNvSpPr txBox="1"/>
          <p:nvPr/>
        </p:nvSpPr>
        <p:spPr>
          <a:xfrm>
            <a:off x="457200" y="3657600"/>
            <a:ext cx="2651760" cy="548640"/>
          </a:xfrm>
          <a:prstGeom prst="rect">
            <a:avLst/>
          </a:prstGeom>
          <a:noFill/>
          <a:ln/>
        </p:spPr>
        <p:txBody>
          <a:bodyPr wrap="square" lIns="0" tIns="0" rIns="0" bIns="0" rtlCol="0" anchor="t"/>
          <a:lstStyle/>
          <a:p>
            <a:pPr algn="ctr" indent="0" marL="0">
              <a:buNone/>
            </a:pPr>
            <a:r>
              <a:rPr lang="en-US" sz="3000" b="1" dirty="0">
                <a:solidFill>
                  <a:srgbClr val="22D3EE"/>
                </a:solidFill>
                <a:latin typeface="Calibri" pitchFamily="34" charset="0"/>
                <a:ea typeface="Calibri" pitchFamily="34" charset="-122"/>
                <a:cs typeface="Calibri" pitchFamily="34" charset="-120"/>
              </a:rPr>
              <a:t>5</a:t>
            </a:r>
            <a:endParaRPr lang="en-US" sz="3000" dirty="0"/>
          </a:p>
        </p:txBody>
      </p:sp>
      <p:sp>
        <p:nvSpPr>
          <p:cNvPr id="43" name="Text 40"/>
          <p:cNvSpPr txBox="1"/>
          <p:nvPr/>
        </p:nvSpPr>
        <p:spPr>
          <a:xfrm>
            <a:off x="457200" y="4224528"/>
            <a:ext cx="2651760" cy="2743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Vertices</a:t>
            </a:r>
            <a:endParaRPr lang="en-US" sz="1100" dirty="0"/>
          </a:p>
        </p:txBody>
      </p:sp>
      <p:sp>
        <p:nvSpPr>
          <p:cNvPr id="44" name="Shape 41"/>
          <p:cNvSpPr/>
          <p:nvPr/>
        </p:nvSpPr>
        <p:spPr>
          <a:xfrm>
            <a:off x="3291840" y="3611880"/>
            <a:ext cx="2651760" cy="1005840"/>
          </a:xfrm>
          <a:prstGeom prst="roundRect">
            <a:avLst>
              <a:gd name="adj" fmla="val 7273"/>
            </a:avLst>
          </a:prstGeom>
          <a:solidFill>
            <a:srgbClr val="141B3A"/>
          </a:solidFill>
          <a:ln w="12700">
            <a:solidFill>
              <a:srgbClr val="22D3EE"/>
            </a:solidFill>
            <a:prstDash val="solid"/>
          </a:ln>
        </p:spPr>
      </p:sp>
      <p:sp>
        <p:nvSpPr>
          <p:cNvPr id="45" name="Text 42"/>
          <p:cNvSpPr txBox="1"/>
          <p:nvPr/>
        </p:nvSpPr>
        <p:spPr>
          <a:xfrm>
            <a:off x="3291840" y="3657600"/>
            <a:ext cx="2651760" cy="548640"/>
          </a:xfrm>
          <a:prstGeom prst="rect">
            <a:avLst/>
          </a:prstGeom>
          <a:noFill/>
          <a:ln/>
        </p:spPr>
        <p:txBody>
          <a:bodyPr wrap="square" lIns="0" tIns="0" rIns="0" bIns="0" rtlCol="0" anchor="t"/>
          <a:lstStyle/>
          <a:p>
            <a:pPr algn="ctr" indent="0" marL="0">
              <a:buNone/>
            </a:pPr>
            <a:r>
              <a:rPr lang="en-US" sz="3000" b="1" dirty="0">
                <a:solidFill>
                  <a:srgbClr val="22D3EE"/>
                </a:solidFill>
                <a:latin typeface="Calibri" pitchFamily="34" charset="0"/>
                <a:ea typeface="Calibri" pitchFamily="34" charset="-122"/>
                <a:cs typeface="Calibri" pitchFamily="34" charset="-120"/>
              </a:rPr>
              <a:t>4</a:t>
            </a:r>
            <a:endParaRPr lang="en-US" sz="3000" dirty="0"/>
          </a:p>
        </p:txBody>
      </p:sp>
      <p:sp>
        <p:nvSpPr>
          <p:cNvPr id="46" name="Text 43"/>
          <p:cNvSpPr txBox="1"/>
          <p:nvPr/>
        </p:nvSpPr>
        <p:spPr>
          <a:xfrm>
            <a:off x="3291840" y="4224528"/>
            <a:ext cx="2651760" cy="2743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MST edges</a:t>
            </a:r>
            <a:endParaRPr lang="en-US" sz="1100" dirty="0"/>
          </a:p>
        </p:txBody>
      </p:sp>
      <p:sp>
        <p:nvSpPr>
          <p:cNvPr id="47" name="Shape 44"/>
          <p:cNvSpPr/>
          <p:nvPr/>
        </p:nvSpPr>
        <p:spPr>
          <a:xfrm>
            <a:off x="6126480" y="3611880"/>
            <a:ext cx="2651760" cy="1005840"/>
          </a:xfrm>
          <a:prstGeom prst="roundRect">
            <a:avLst>
              <a:gd name="adj" fmla="val 7273"/>
            </a:avLst>
          </a:prstGeom>
          <a:solidFill>
            <a:srgbClr val="141B3A"/>
          </a:solidFill>
          <a:ln w="12700">
            <a:solidFill>
              <a:srgbClr val="A855F7"/>
            </a:solidFill>
            <a:prstDash val="solid"/>
          </a:ln>
        </p:spPr>
      </p:sp>
      <p:sp>
        <p:nvSpPr>
          <p:cNvPr id="48" name="Text 45"/>
          <p:cNvSpPr txBox="1"/>
          <p:nvPr/>
        </p:nvSpPr>
        <p:spPr>
          <a:xfrm>
            <a:off x="6126480" y="3657600"/>
            <a:ext cx="2651760" cy="548640"/>
          </a:xfrm>
          <a:prstGeom prst="rect">
            <a:avLst/>
          </a:prstGeom>
          <a:noFill/>
          <a:ln/>
        </p:spPr>
        <p:txBody>
          <a:bodyPr wrap="square" lIns="0" tIns="0" rIns="0" bIns="0" rtlCol="0" anchor="t"/>
          <a:lstStyle/>
          <a:p>
            <a:pPr algn="ctr" indent="0" marL="0">
              <a:buNone/>
            </a:pPr>
            <a:r>
              <a:rPr lang="en-US" sz="3600" b="1" dirty="0">
                <a:solidFill>
                  <a:srgbClr val="A855F7"/>
                </a:solidFill>
                <a:latin typeface="Calibri" pitchFamily="34" charset="0"/>
                <a:ea typeface="Calibri" pitchFamily="34" charset="-122"/>
                <a:cs typeface="Calibri" pitchFamily="34" charset="-120"/>
              </a:rPr>
              <a:t>9</a:t>
            </a:r>
            <a:endParaRPr lang="en-US" sz="3600" dirty="0"/>
          </a:p>
        </p:txBody>
      </p:sp>
      <p:sp>
        <p:nvSpPr>
          <p:cNvPr id="49" name="Text 46"/>
          <p:cNvSpPr txBox="1"/>
          <p:nvPr/>
        </p:nvSpPr>
        <p:spPr>
          <a:xfrm>
            <a:off x="6126480" y="4224528"/>
            <a:ext cx="2651760" cy="2743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Total weight</a:t>
            </a:r>
            <a:endParaRPr lang="en-US" sz="1100" dirty="0"/>
          </a:p>
        </p:txBody>
      </p:sp>
      <p:sp>
        <p:nvSpPr>
          <p:cNvPr id="50" name="Text 47"/>
          <p:cNvSpPr txBox="1"/>
          <p:nvPr/>
        </p:nvSpPr>
        <p:spPr>
          <a:xfrm>
            <a:off x="7132320" y="2103120"/>
            <a:ext cx="1737360" cy="73152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2 + 1 + 4 + 2 = 9</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Prim's Algorithm - Pseudocode</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8</a:t>
            </a:r>
            <a:endParaRPr lang="en-US" sz="800" dirty="0"/>
          </a:p>
        </p:txBody>
      </p:sp>
      <p:sp>
        <p:nvSpPr>
          <p:cNvPr id="7" name="Shape 4"/>
          <p:cNvSpPr/>
          <p:nvPr/>
        </p:nvSpPr>
        <p:spPr>
          <a:xfrm>
            <a:off x="365760" y="868680"/>
            <a:ext cx="4937760" cy="3840480"/>
          </a:xfrm>
          <a:prstGeom prst="roundRect">
            <a:avLst>
              <a:gd name="adj" fmla="val 1905"/>
            </a:avLst>
          </a:prstGeom>
          <a:solidFill>
            <a:srgbClr val="141B3A"/>
          </a:solidFill>
          <a:ln w="12700">
            <a:solidFill>
              <a:srgbClr val="22D3EE"/>
            </a:solidFill>
            <a:prstDash val="solid"/>
          </a:ln>
        </p:spPr>
      </p:sp>
      <p:sp>
        <p:nvSpPr>
          <p:cNvPr id="8" name="Text 5"/>
          <p:cNvSpPr txBox="1"/>
          <p:nvPr/>
        </p:nvSpPr>
        <p:spPr>
          <a:xfrm>
            <a:off x="548640" y="960120"/>
            <a:ext cx="4663440" cy="3657600"/>
          </a:xfrm>
          <a:prstGeom prst="rect">
            <a:avLst/>
          </a:prstGeom>
          <a:noFill/>
          <a:ln/>
        </p:spPr>
        <p:txBody>
          <a:bodyPr wrap="square" lIns="0" tIns="0" rIns="0" bIns="0" rtlCol="0" anchor="t"/>
          <a:lstStyle/>
          <a:p>
            <a:pPr indent="0" marL="0">
              <a:buNone/>
            </a:pPr>
            <a:r>
              <a:rPr lang="en-US" sz="1150" dirty="0">
                <a:solidFill>
                  <a:srgbClr val="A5F3FC"/>
                </a:solidFill>
                <a:latin typeface="Courier New" pitchFamily="34" charset="0"/>
                <a:ea typeface="Courier New" pitchFamily="34" charset="-122"/>
                <a:cs typeface="Courier New" pitchFamily="34" charset="-120"/>
              </a:rPr>
              <a:t>PRIM(G, V):</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for each vertex v:</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key[v] = INFINITY</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parent[v] = -1</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mstSet[v] = false</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key[0] = 0</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repeat V times:</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u = unvisited vertex with min key</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if no such vertex: stop</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mstSet[u] = true</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for each vertex v:</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if edge (u,v) exists</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and mstSet[v] == false</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and weight(u,v) &lt; key[v]:</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parent[v] = u</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key[v] = weight(u,v)</a:t>
            </a:r>
            <a:endParaRPr lang="en-US" sz="1150" dirty="0"/>
          </a:p>
          <a:p>
            <a:pPr indent="0" marL="0">
              <a:buNone/>
            </a:pPr>
            <a:r>
              <a:rPr lang="en-US" sz="1150" dirty="0">
                <a:solidFill>
                  <a:srgbClr val="A5F3FC"/>
                </a:solidFill>
                <a:latin typeface="Courier New" pitchFamily="34" charset="0"/>
                <a:ea typeface="Courier New" pitchFamily="34" charset="-122"/>
                <a:cs typeface="Courier New" pitchFamily="34" charset="-120"/>
              </a:rPr>
              <a:t>  return parent</a:t>
            </a:r>
            <a:endParaRPr lang="en-US" sz="1150" dirty="0"/>
          </a:p>
        </p:txBody>
      </p:sp>
      <p:sp>
        <p:nvSpPr>
          <p:cNvPr id="9" name="Shape 6"/>
          <p:cNvSpPr/>
          <p:nvPr/>
        </p:nvSpPr>
        <p:spPr>
          <a:xfrm>
            <a:off x="5486400" y="868680"/>
            <a:ext cx="3291840" cy="640080"/>
          </a:xfrm>
          <a:prstGeom prst="roundRect">
            <a:avLst>
              <a:gd name="adj" fmla="val 11429"/>
            </a:avLst>
          </a:prstGeom>
          <a:solidFill>
            <a:srgbClr val="141B3A"/>
          </a:solidFill>
          <a:ln w="12700">
            <a:solidFill>
              <a:srgbClr val="3B82F6"/>
            </a:solidFill>
            <a:prstDash val="solid"/>
          </a:ln>
        </p:spPr>
      </p:sp>
      <p:sp>
        <p:nvSpPr>
          <p:cNvPr id="10" name="Text 7"/>
          <p:cNvSpPr txBox="1"/>
          <p:nvPr/>
        </p:nvSpPr>
        <p:spPr>
          <a:xfrm>
            <a:off x="5596128" y="914400"/>
            <a:ext cx="3108960" cy="548640"/>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key[]  </a:t>
            </a:r>
            <a:endParaRPr lang="en-US" sz="1000" dirty="0"/>
          </a:p>
          <a:p>
            <a:pPr indent="0" marL="0">
              <a:buNone/>
            </a:pPr>
            <a:r>
              <a:rPr lang="en-US" sz="1000" dirty="0">
                <a:solidFill>
                  <a:srgbClr val="E2E8F0"/>
                </a:solidFill>
                <a:latin typeface="Calibri" pitchFamily="34" charset="0"/>
                <a:ea typeface="Calibri" pitchFamily="34" charset="-122"/>
                <a:cs typeface="Calibri" pitchFamily="34" charset="-120"/>
              </a:rPr>
              <a:t>Cheapest known edge weight connecting each vertex to the MST.</a:t>
            </a:r>
            <a:endParaRPr lang="en-US" sz="1000" dirty="0"/>
          </a:p>
        </p:txBody>
      </p:sp>
      <p:sp>
        <p:nvSpPr>
          <p:cNvPr id="11" name="Shape 8"/>
          <p:cNvSpPr/>
          <p:nvPr/>
        </p:nvSpPr>
        <p:spPr>
          <a:xfrm>
            <a:off x="5486400" y="1600200"/>
            <a:ext cx="3291840" cy="640080"/>
          </a:xfrm>
          <a:prstGeom prst="roundRect">
            <a:avLst>
              <a:gd name="adj" fmla="val 11429"/>
            </a:avLst>
          </a:prstGeom>
          <a:solidFill>
            <a:srgbClr val="141B3A"/>
          </a:solidFill>
          <a:ln w="12700">
            <a:solidFill>
              <a:srgbClr val="A855F7"/>
            </a:solidFill>
            <a:prstDash val="solid"/>
          </a:ln>
        </p:spPr>
      </p:sp>
      <p:sp>
        <p:nvSpPr>
          <p:cNvPr id="12" name="Text 9"/>
          <p:cNvSpPr txBox="1"/>
          <p:nvPr/>
        </p:nvSpPr>
        <p:spPr>
          <a:xfrm>
            <a:off x="5596128" y="1645920"/>
            <a:ext cx="3108960" cy="548640"/>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parent[]  </a:t>
            </a:r>
            <a:endParaRPr lang="en-US" sz="1000" dirty="0"/>
          </a:p>
          <a:p>
            <a:pPr indent="0" marL="0">
              <a:buNone/>
            </a:pPr>
            <a:r>
              <a:rPr lang="en-US" sz="1000" dirty="0">
                <a:solidFill>
                  <a:srgbClr val="E2E8F0"/>
                </a:solidFill>
                <a:latin typeface="Calibri" pitchFamily="34" charset="0"/>
                <a:ea typeface="Calibri" pitchFamily="34" charset="-122"/>
                <a:cs typeface="Calibri" pitchFamily="34" charset="-120"/>
              </a:rPr>
              <a:t>Vertex through which each vertex joins the MST.</a:t>
            </a:r>
            <a:endParaRPr lang="en-US" sz="1000" dirty="0"/>
          </a:p>
        </p:txBody>
      </p:sp>
      <p:sp>
        <p:nvSpPr>
          <p:cNvPr id="13" name="Shape 10"/>
          <p:cNvSpPr/>
          <p:nvPr/>
        </p:nvSpPr>
        <p:spPr>
          <a:xfrm>
            <a:off x="5486400" y="2331720"/>
            <a:ext cx="3291840" cy="640080"/>
          </a:xfrm>
          <a:prstGeom prst="roundRect">
            <a:avLst>
              <a:gd name="adj" fmla="val 11429"/>
            </a:avLst>
          </a:prstGeom>
          <a:solidFill>
            <a:srgbClr val="141B3A"/>
          </a:solidFill>
          <a:ln w="12700">
            <a:solidFill>
              <a:srgbClr val="3B82F6"/>
            </a:solidFill>
            <a:prstDash val="solid"/>
          </a:ln>
        </p:spPr>
      </p:sp>
      <p:sp>
        <p:nvSpPr>
          <p:cNvPr id="14" name="Text 11"/>
          <p:cNvSpPr txBox="1"/>
          <p:nvPr/>
        </p:nvSpPr>
        <p:spPr>
          <a:xfrm>
            <a:off x="5596128" y="2377440"/>
            <a:ext cx="3108960" cy="548640"/>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mstSet[]  </a:t>
            </a:r>
            <a:endParaRPr lang="en-US" sz="1000" dirty="0"/>
          </a:p>
          <a:p>
            <a:pPr indent="0" marL="0">
              <a:buNone/>
            </a:pPr>
            <a:r>
              <a:rPr lang="en-US" sz="1000" dirty="0">
                <a:solidFill>
                  <a:srgbClr val="E2E8F0"/>
                </a:solidFill>
                <a:latin typeface="Calibri" pitchFamily="34" charset="0"/>
                <a:ea typeface="Calibri" pitchFamily="34" charset="-122"/>
                <a:cs typeface="Calibri" pitchFamily="34" charset="-120"/>
              </a:rPr>
              <a:t>Tracks vertices already included.</a:t>
            </a:r>
            <a:endParaRPr lang="en-US" sz="1000" dirty="0"/>
          </a:p>
        </p:txBody>
      </p:sp>
      <p:sp>
        <p:nvSpPr>
          <p:cNvPr id="15" name="Shape 12"/>
          <p:cNvSpPr/>
          <p:nvPr/>
        </p:nvSpPr>
        <p:spPr>
          <a:xfrm>
            <a:off x="5486400" y="3063240"/>
            <a:ext cx="3291840" cy="640080"/>
          </a:xfrm>
          <a:prstGeom prst="roundRect">
            <a:avLst>
              <a:gd name="adj" fmla="val 11429"/>
            </a:avLst>
          </a:prstGeom>
          <a:solidFill>
            <a:srgbClr val="141B3A"/>
          </a:solidFill>
          <a:ln w="12700">
            <a:solidFill>
              <a:srgbClr val="A855F7"/>
            </a:solidFill>
            <a:prstDash val="solid"/>
          </a:ln>
        </p:spPr>
      </p:sp>
      <p:sp>
        <p:nvSpPr>
          <p:cNvPr id="16" name="Text 13"/>
          <p:cNvSpPr txBox="1"/>
          <p:nvPr/>
        </p:nvSpPr>
        <p:spPr>
          <a:xfrm>
            <a:off x="5596128" y="3108960"/>
            <a:ext cx="3108960" cy="548640"/>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V  </a:t>
            </a:r>
            <a:endParaRPr lang="en-US" sz="1000" dirty="0"/>
          </a:p>
          <a:p>
            <a:pPr indent="0" marL="0">
              <a:buNone/>
            </a:pPr>
            <a:r>
              <a:rPr lang="en-US" sz="1000" dirty="0">
                <a:solidFill>
                  <a:srgbClr val="E2E8F0"/>
                </a:solidFill>
                <a:latin typeface="Calibri" pitchFamily="34" charset="0"/>
                <a:ea typeface="Calibri" pitchFamily="34" charset="-122"/>
                <a:cs typeface="Calibri" pitchFamily="34" charset="-120"/>
              </a:rPr>
              <a:t>Number of vertices.</a:t>
            </a:r>
            <a:endParaRPr lang="en-US" sz="1000" dirty="0"/>
          </a:p>
        </p:txBody>
      </p:sp>
      <p:sp>
        <p:nvSpPr>
          <p:cNvPr id="17" name="Text 14"/>
          <p:cNvSpPr txBox="1"/>
          <p:nvPr/>
        </p:nvSpPr>
        <p:spPr>
          <a:xfrm>
            <a:off x="5486400" y="3840480"/>
            <a:ext cx="3291840" cy="73152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Each unvisited vertex keeps its cheapest known connection; it is updated whenever a cheaper edge is found.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Understanding the C Implementation</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9</a:t>
            </a:r>
            <a:endParaRPr lang="en-US" sz="800" dirty="0"/>
          </a:p>
        </p:txBody>
      </p:sp>
      <p:sp>
        <p:nvSpPr>
          <p:cNvPr id="7" name="Shape 4"/>
          <p:cNvSpPr/>
          <p:nvPr/>
        </p:nvSpPr>
        <p:spPr>
          <a:xfrm>
            <a:off x="365760" y="868680"/>
            <a:ext cx="4206240" cy="777240"/>
          </a:xfrm>
          <a:prstGeom prst="roundRect">
            <a:avLst>
              <a:gd name="adj" fmla="val 9412"/>
            </a:avLst>
          </a:prstGeom>
          <a:solidFill>
            <a:srgbClr val="141B3A"/>
          </a:solidFill>
          <a:ln w="12700">
            <a:solidFill>
              <a:srgbClr val="22D3EE"/>
            </a:solidFill>
            <a:prstDash val="solid"/>
          </a:ln>
        </p:spPr>
      </p:sp>
      <p:sp>
        <p:nvSpPr>
          <p:cNvPr id="8" name="Text 5"/>
          <p:cNvSpPr txBox="1"/>
          <p:nvPr/>
        </p:nvSpPr>
        <p:spPr>
          <a:xfrm>
            <a:off x="502920" y="932688"/>
            <a:ext cx="3931920" cy="685800"/>
          </a:xfrm>
          <a:prstGeom prst="rect">
            <a:avLst/>
          </a:prstGeom>
          <a:noFill/>
          <a:ln/>
        </p:spPr>
        <p:txBody>
          <a:bodyPr wrap="square" lIns="0" tIns="0" rIns="0" bIns="0" rtlCol="0" anchor="t"/>
          <a:lstStyle/>
          <a:p>
            <a:pPr indent="0" marL="0">
              <a:buNone/>
            </a:pPr>
            <a:r>
              <a:rPr lang="en-US" sz="1050" b="1" dirty="0">
                <a:solidFill>
                  <a:srgbClr val="22D3EE"/>
                </a:solidFill>
                <a:latin typeface="Calibri" pitchFamily="34" charset="0"/>
                <a:ea typeface="Calibri" pitchFamily="34" charset="-122"/>
                <a:cs typeface="Calibri" pitchFamily="34" charset="-120"/>
              </a:rPr>
              <a:t>minKey()</a:t>
            </a:r>
            <a:endParaRPr lang="en-US" sz="1050" dirty="0"/>
          </a:p>
          <a:p>
            <a:pPr indent="0" marL="0">
              <a:buNone/>
            </a:pPr>
            <a:r>
              <a:rPr lang="en-US" sz="1050" dirty="0">
                <a:solidFill>
                  <a:srgbClr val="E2E8F0"/>
                </a:solidFill>
                <a:latin typeface="Calibri" pitchFamily="34" charset="0"/>
                <a:ea typeface="Calibri" pitchFamily="34" charset="-122"/>
                <a:cs typeface="Calibri" pitchFamily="34" charset="-120"/>
              </a:rPr>
              <a:t>Loops over vertices, ignores those in mstSet[], returns index of the smallest key.</a:t>
            </a:r>
            <a:endParaRPr lang="en-US" sz="1050" dirty="0"/>
          </a:p>
        </p:txBody>
      </p:sp>
      <p:sp>
        <p:nvSpPr>
          <p:cNvPr id="9" name="Shape 6"/>
          <p:cNvSpPr/>
          <p:nvPr/>
        </p:nvSpPr>
        <p:spPr>
          <a:xfrm>
            <a:off x="365760" y="1737360"/>
            <a:ext cx="4206240" cy="1325880"/>
          </a:xfrm>
          <a:prstGeom prst="roundRect">
            <a:avLst>
              <a:gd name="adj" fmla="val 5517"/>
            </a:avLst>
          </a:prstGeom>
          <a:solidFill>
            <a:srgbClr val="141B3A"/>
          </a:solidFill>
          <a:ln w="12700">
            <a:solidFill>
              <a:srgbClr val="A855F7"/>
            </a:solidFill>
            <a:prstDash val="solid"/>
          </a:ln>
        </p:spPr>
      </p:sp>
      <p:sp>
        <p:nvSpPr>
          <p:cNvPr id="10" name="Text 7"/>
          <p:cNvSpPr txBox="1"/>
          <p:nvPr/>
        </p:nvSpPr>
        <p:spPr>
          <a:xfrm>
            <a:off x="502920" y="1801368"/>
            <a:ext cx="3931920" cy="1234440"/>
          </a:xfrm>
          <a:prstGeom prst="rect">
            <a:avLst/>
          </a:prstGeom>
          <a:noFill/>
          <a:ln/>
        </p:spPr>
        <p:txBody>
          <a:bodyPr wrap="square" lIns="0" tIns="0" rIns="0" bIns="0" rtlCol="0" anchor="t"/>
          <a:lstStyle/>
          <a:p>
            <a:pPr indent="0" marL="0">
              <a:buNone/>
            </a:pPr>
            <a:r>
              <a:rPr lang="en-US" sz="1050" b="1" dirty="0">
                <a:solidFill>
                  <a:srgbClr val="22D3EE"/>
                </a:solidFill>
                <a:latin typeface="Calibri" pitchFamily="34" charset="0"/>
                <a:ea typeface="Calibri" pitchFamily="34" charset="-122"/>
                <a:cs typeface="Calibri" pitchFamily="34" charset="-120"/>
              </a:rPr>
              <a:t>prim()</a:t>
            </a:r>
            <a:endParaRPr lang="en-US" sz="1050" dirty="0"/>
          </a:p>
          <a:p>
            <a:pPr indent="0" marL="0">
              <a:buNone/>
            </a:pPr>
            <a:r>
              <a:rPr lang="en-US" sz="1050" dirty="0">
                <a:solidFill>
                  <a:srgbClr val="E2E8F0"/>
                </a:solidFill>
                <a:latin typeface="Calibri" pitchFamily="34" charset="0"/>
                <a:ea typeface="Calibri" pitchFamily="34" charset="-122"/>
                <a:cs typeface="Calibri" pitchFamily="34" charset="-120"/>
              </a:rPr>
              <a:t>Sets key[0]=0 (vertex 0 is the start), repeatedly picks min-key vertex, marks it in mstSet[], updates parent[] and key[] of neighbours, then calls printTree().</a:t>
            </a:r>
            <a:endParaRPr lang="en-US" sz="1050" dirty="0"/>
          </a:p>
        </p:txBody>
      </p:sp>
      <p:sp>
        <p:nvSpPr>
          <p:cNvPr id="11" name="Shape 8"/>
          <p:cNvSpPr/>
          <p:nvPr/>
        </p:nvSpPr>
        <p:spPr>
          <a:xfrm>
            <a:off x="365760" y="3154680"/>
            <a:ext cx="4206240" cy="868680"/>
          </a:xfrm>
          <a:prstGeom prst="roundRect">
            <a:avLst>
              <a:gd name="adj" fmla="val 8421"/>
            </a:avLst>
          </a:prstGeom>
          <a:solidFill>
            <a:srgbClr val="141B3A"/>
          </a:solidFill>
          <a:ln w="12700">
            <a:solidFill>
              <a:srgbClr val="22D3EE"/>
            </a:solidFill>
            <a:prstDash val="solid"/>
          </a:ln>
        </p:spPr>
      </p:sp>
      <p:sp>
        <p:nvSpPr>
          <p:cNvPr id="12" name="Text 9"/>
          <p:cNvSpPr txBox="1"/>
          <p:nvPr/>
        </p:nvSpPr>
        <p:spPr>
          <a:xfrm>
            <a:off x="502920" y="3218688"/>
            <a:ext cx="3931920" cy="777240"/>
          </a:xfrm>
          <a:prstGeom prst="rect">
            <a:avLst/>
          </a:prstGeom>
          <a:noFill/>
          <a:ln/>
        </p:spPr>
        <p:txBody>
          <a:bodyPr wrap="square" lIns="0" tIns="0" rIns="0" bIns="0" rtlCol="0" anchor="t"/>
          <a:lstStyle/>
          <a:p>
            <a:pPr indent="0" marL="0">
              <a:buNone/>
            </a:pPr>
            <a:r>
              <a:rPr lang="en-US" sz="1050" b="1" dirty="0">
                <a:solidFill>
                  <a:srgbClr val="22D3EE"/>
                </a:solidFill>
                <a:latin typeface="Calibri" pitchFamily="34" charset="0"/>
                <a:ea typeface="Calibri" pitchFamily="34" charset="-122"/>
                <a:cs typeface="Calibri" pitchFamily="34" charset="-120"/>
              </a:rPr>
              <a:t>printTree()</a:t>
            </a:r>
            <a:endParaRPr lang="en-US" sz="1050" dirty="0"/>
          </a:p>
          <a:p>
            <a:pPr indent="0" marL="0">
              <a:buNone/>
            </a:pPr>
            <a:r>
              <a:rPr lang="en-US" sz="1050" dirty="0">
                <a:solidFill>
                  <a:srgbClr val="E2E8F0"/>
                </a:solidFill>
                <a:latin typeface="Calibri" pitchFamily="34" charset="0"/>
                <a:ea typeface="Calibri" pitchFamily="34" charset="-122"/>
                <a:cs typeface="Calibri" pitchFamily="34" charset="-120"/>
              </a:rPr>
              <a:t>Prints each non-start vertex with its parent and edge weight from the adjacency matrix.</a:t>
            </a:r>
            <a:endParaRPr lang="en-US" sz="1050" dirty="0"/>
          </a:p>
        </p:txBody>
      </p:sp>
      <p:sp>
        <p:nvSpPr>
          <p:cNvPr id="13" name="Shape 10"/>
          <p:cNvSpPr/>
          <p:nvPr/>
        </p:nvSpPr>
        <p:spPr>
          <a:xfrm>
            <a:off x="4754880" y="868680"/>
            <a:ext cx="4023360" cy="457200"/>
          </a:xfrm>
          <a:prstGeom prst="roundRect">
            <a:avLst>
              <a:gd name="adj" fmla="val 16000"/>
            </a:avLst>
          </a:prstGeom>
          <a:solidFill>
            <a:srgbClr val="141B3A"/>
          </a:solidFill>
          <a:ln w="12700">
            <a:solidFill>
              <a:srgbClr val="3B82F6"/>
            </a:solidFill>
            <a:prstDash val="solid"/>
          </a:ln>
        </p:spPr>
      </p:sp>
      <p:sp>
        <p:nvSpPr>
          <p:cNvPr id="14" name="Text 11"/>
          <p:cNvSpPr txBox="1"/>
          <p:nvPr/>
        </p:nvSpPr>
        <p:spPr>
          <a:xfrm>
            <a:off x="4846320" y="978408"/>
            <a:ext cx="3840480" cy="274320"/>
          </a:xfrm>
          <a:prstGeom prst="rect">
            <a:avLst/>
          </a:prstGeom>
          <a:noFill/>
          <a:ln/>
        </p:spPr>
        <p:txBody>
          <a:bodyPr wrap="square" lIns="0" tIns="0" rIns="0" bIns="0" rtlCol="0" anchor="t"/>
          <a:lstStyle/>
          <a:p>
            <a:pPr indent="0" marL="0">
              <a:buNone/>
            </a:pPr>
            <a:r>
              <a:rPr lang="en-US" sz="950" dirty="0">
                <a:solidFill>
                  <a:srgbClr val="A5F3FC"/>
                </a:solidFill>
                <a:latin typeface="Courier New" pitchFamily="34" charset="0"/>
                <a:ea typeface="Courier New" pitchFamily="34" charset="-122"/>
                <a:cs typeface="Courier New" pitchFamily="34" charset="-120"/>
              </a:rPr>
              <a:t>if (graph[u][v] &amp;&amp; !mstSet[v] &amp;&amp; graph[u][v] &lt; key[v])</a:t>
            </a:r>
            <a:endParaRPr lang="en-US" sz="950" dirty="0"/>
          </a:p>
        </p:txBody>
      </p:sp>
      <p:sp>
        <p:nvSpPr>
          <p:cNvPr id="15" name="Text 12"/>
          <p:cNvSpPr txBox="1"/>
          <p:nvPr/>
        </p:nvSpPr>
        <p:spPr>
          <a:xfrm>
            <a:off x="4754880" y="1463040"/>
            <a:ext cx="4023360"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graph[u][v]: an edge exists (0 means no edge)</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!mstSet[v]: v is not yet in the MST</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graph[u][v] &lt; key[v]: cheaper than the recorded connection</a:t>
            </a:r>
            <a:endParaRPr lang="en-US" sz="1050" dirty="0"/>
          </a:p>
        </p:txBody>
      </p:sp>
      <p:sp>
        <p:nvSpPr>
          <p:cNvPr id="16" name="Text 13"/>
          <p:cNvSpPr txBox="1"/>
          <p:nvPr/>
        </p:nvSpPr>
        <p:spPr>
          <a:xfrm>
            <a:off x="4754880" y="2697480"/>
            <a:ext cx="4023360" cy="1371600"/>
          </a:xfrm>
          <a:prstGeom prst="rect">
            <a:avLst/>
          </a:prstGeom>
          <a:noFill/>
          <a:ln/>
        </p:spPr>
        <p:txBody>
          <a:bodyPr wrap="square" lIns="0" tIns="0" rIns="0" bIns="0" rtlCol="0" anchor="t"/>
          <a:lstStyle/>
          <a:p>
            <a:pPr indent="0" marL="0">
              <a:buNone/>
            </a:pPr>
            <a:r>
              <a:rPr lang="en-US" sz="1050" b="1" dirty="0">
                <a:solidFill>
                  <a:srgbClr val="A855F7"/>
                </a:solidFill>
                <a:latin typeface="Calibri" pitchFamily="34" charset="0"/>
                <a:ea typeface="Calibri" pitchFamily="34" charset="-122"/>
                <a:cs typeface="Calibri" pitchFamily="34" charset="-120"/>
              </a:rPr>
              <a:t>Data structures</a:t>
            </a:r>
            <a:endParaRPr lang="en-US" sz="1050" dirty="0"/>
          </a:p>
          <a:p>
            <a:pPr marL="342900" indent="-342900">
              <a:buSzPct val="100000"/>
              <a:buChar char="•"/>
            </a:pPr>
            <a:r>
              <a:rPr lang="en-US" sz="1050" dirty="0">
                <a:solidFill>
                  <a:srgbClr val="E2E8F0"/>
                </a:solidFill>
                <a:latin typeface="Calibri" pitchFamily="34" charset="0"/>
                <a:ea typeface="Calibri" pitchFamily="34" charset="-122"/>
                <a:cs typeface="Calibri" pitchFamily="34" charset="-120"/>
              </a:rPr>
              <a:t>graph[V][V]: adjacency matrix of weights</a:t>
            </a:r>
            <a:endParaRPr lang="en-US" sz="1050" dirty="0"/>
          </a:p>
          <a:p>
            <a:pPr marL="342900" indent="-342900">
              <a:buSzPct val="100000"/>
              <a:buChar char="•"/>
            </a:pPr>
            <a:r>
              <a:rPr lang="en-US" sz="1050" dirty="0">
                <a:solidFill>
                  <a:srgbClr val="E2E8F0"/>
                </a:solidFill>
                <a:latin typeface="Calibri" pitchFamily="34" charset="0"/>
                <a:ea typeface="Calibri" pitchFamily="34" charset="-122"/>
                <a:cs typeface="Calibri" pitchFamily="34" charset="-120"/>
              </a:rPr>
              <a:t>key[V]: minimum known edge weights</a:t>
            </a:r>
            <a:endParaRPr lang="en-US" sz="1050" dirty="0"/>
          </a:p>
          <a:p>
            <a:pPr marL="342900" indent="-342900">
              <a:buSzPct val="100000"/>
              <a:buChar char="•"/>
            </a:pPr>
            <a:r>
              <a:rPr lang="en-US" sz="1050" dirty="0">
                <a:solidFill>
                  <a:srgbClr val="E2E8F0"/>
                </a:solidFill>
                <a:latin typeface="Calibri" pitchFamily="34" charset="0"/>
                <a:ea typeface="Calibri" pitchFamily="34" charset="-122"/>
                <a:cs typeface="Calibri" pitchFamily="34" charset="-120"/>
              </a:rPr>
              <a:t>parent[V]: parent of each vertex in the MST</a:t>
            </a:r>
            <a:endParaRPr lang="en-US" sz="1050" dirty="0"/>
          </a:p>
          <a:p>
            <a:pPr marL="342900" indent="-342900">
              <a:buSzPct val="100000"/>
              <a:buChar char="•"/>
            </a:pPr>
            <a:r>
              <a:rPr lang="en-US" sz="1050" dirty="0">
                <a:solidFill>
                  <a:srgbClr val="E2E8F0"/>
                </a:solidFill>
                <a:latin typeface="Calibri" pitchFamily="34" charset="0"/>
                <a:ea typeface="Calibri" pitchFamily="34" charset="-122"/>
                <a:cs typeface="Calibri" pitchFamily="34" charset="-120"/>
              </a:rPr>
              <a:t>mstSet[V]: included-vertex flags</a:t>
            </a:r>
            <a:endParaRPr lang="en-US" sz="1050" dirty="0"/>
          </a:p>
          <a:p>
            <a:pPr marL="342900" indent="-342900">
              <a:buSzPct val="100000"/>
              <a:buChar char="•"/>
            </a:pPr>
            <a:r>
              <a:rPr lang="en-US" sz="1050" dirty="0">
                <a:solidFill>
                  <a:srgbClr val="E2E8F0"/>
                </a:solidFill>
                <a:latin typeface="Calibri" pitchFamily="34" charset="0"/>
                <a:ea typeface="Calibri" pitchFamily="34" charset="-122"/>
                <a:cs typeface="Calibri" pitchFamily="34" charset="-120"/>
              </a:rPr>
              <a:t>vertices: number of vertices</a:t>
            </a:r>
            <a:endParaRPr lang="en-US" sz="1050" dirty="0"/>
          </a:p>
        </p:txBody>
      </p:sp>
      <p:sp>
        <p:nvSpPr>
          <p:cNvPr id="17" name="Text 14"/>
          <p:cNvSpPr txBox="1"/>
          <p:nvPr/>
        </p:nvSpPr>
        <p:spPr>
          <a:xfrm>
            <a:off x="4754880" y="4114800"/>
            <a:ext cx="4023360" cy="457200"/>
          </a:xfrm>
          <a:prstGeom prst="rect">
            <a:avLst/>
          </a:prstGeom>
          <a:noFill/>
          <a:ln/>
        </p:spPr>
        <p:txBody>
          <a:bodyPr wrap="square" lIns="0" tIns="0" rIns="0" bIns="0" rtlCol="0" anchor="t"/>
          <a:lstStyle/>
          <a:p>
            <a:pPr indent="0" marL="0">
              <a:buNone/>
            </a:pPr>
            <a:r>
              <a:rPr lang="en-US" sz="1000" i="1" dirty="0">
                <a:solidFill>
                  <a:srgbClr val="94A3B8"/>
                </a:solidFill>
                <a:latin typeface="Calibri" pitchFamily="34" charset="0"/>
                <a:ea typeface="Calibri" pitchFamily="34" charset="-122"/>
                <a:cs typeface="Calibri" pitchFamily="34" charset="-120"/>
              </a:rPr>
              <a:t>Note: the supplied snippet has an incomplete main(); it is not a complete executable program.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Complexity Analysis</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10</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4572000"/>
                <a:gridCol w="1828800"/>
                <a:gridCol w="1828800"/>
              </a:tblGrid>
              <a:tr h="411480">
                <a:tc>
                  <a:txBody>
                    <a:bodyPr/>
                    <a:lstStyle/>
                    <a:p>
                      <a:pPr algn="ctr" indent="0" marL="0">
                        <a:buNone/>
                      </a:pPr>
                      <a:r>
                        <a:rPr lang="en-US" sz="1300" b="1" dirty="0">
                          <a:solidFill>
                            <a:srgbClr val="FFFFFF"/>
                          </a:solidFill>
                        </a:rPr>
                        <a:t>Implementation</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3B82F6"/>
                    </a:solidFill>
                  </a:tcPr>
                </a:tc>
                <a:tc>
                  <a:txBody>
                    <a:bodyPr/>
                    <a:lstStyle/>
                    <a:p>
                      <a:pPr algn="ctr" indent="0" marL="0">
                        <a:buNone/>
                      </a:pPr>
                      <a:r>
                        <a:rPr lang="en-US" sz="1300" b="1" dirty="0">
                          <a:solidFill>
                            <a:srgbClr val="FFFFFF"/>
                          </a:solidFill>
                        </a:rPr>
                        <a:t>Time</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3B82F6"/>
                    </a:solidFill>
                  </a:tcPr>
                </a:tc>
                <a:tc>
                  <a:txBody>
                    <a:bodyPr/>
                    <a:lstStyle/>
                    <a:p>
                      <a:pPr algn="ctr" indent="0" marL="0">
                        <a:buNone/>
                      </a:pPr>
                      <a:r>
                        <a:rPr lang="en-US" sz="1300" b="1" dirty="0">
                          <a:solidFill>
                            <a:srgbClr val="FFFFFF"/>
                          </a:solidFill>
                        </a:rPr>
                        <a:t>Space</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3B82F6"/>
                    </a:solidFill>
                  </a:tcPr>
                </a:tc>
              </a:tr>
              <a:tr h="411480">
                <a:tc>
                  <a:txBody>
                    <a:bodyPr/>
                    <a:lstStyle/>
                    <a:p>
                      <a:pPr algn="ctr" indent="0" marL="0">
                        <a:buNone/>
                      </a:pPr>
                      <a:r>
                        <a:rPr lang="en-US" sz="1300" b="1" dirty="0">
                          <a:solidFill>
                            <a:srgbClr val="22D3EE"/>
                          </a:solidFill>
                        </a:rPr>
                        <a:t>Adjacency matrix + linear search (MY CODE)</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41B3A"/>
                    </a:solidFill>
                  </a:tcPr>
                </a:tc>
                <a:tc>
                  <a:txBody>
                    <a:bodyPr/>
                    <a:lstStyle/>
                    <a:p>
                      <a:pPr algn="ctr" indent="0" marL="0">
                        <a:buNone/>
                      </a:pPr>
                      <a:r>
                        <a:rPr lang="en-US" sz="1300" b="1" dirty="0">
                          <a:solidFill>
                            <a:srgbClr val="22D3EE"/>
                          </a:solidFill>
                        </a:rPr>
                        <a:t>O(V²)</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41B3A"/>
                    </a:solidFill>
                  </a:tcPr>
                </a:tc>
                <a:tc>
                  <a:txBody>
                    <a:bodyPr/>
                    <a:lstStyle/>
                    <a:p>
                      <a:pPr algn="ctr" indent="0" marL="0">
                        <a:buNone/>
                      </a:pPr>
                      <a:r>
                        <a:rPr lang="en-US" sz="1300" b="1" dirty="0">
                          <a:solidFill>
                            <a:srgbClr val="22D3EE"/>
                          </a:solidFill>
                        </a:rPr>
                        <a:t>O(V²)</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41B3A"/>
                    </a:solidFill>
                  </a:tcPr>
                </a:tc>
              </a:tr>
              <a:tr h="411480">
                <a:tc>
                  <a:txBody>
                    <a:bodyPr/>
                    <a:lstStyle/>
                    <a:p>
                      <a:pPr algn="ctr" indent="0" marL="0">
                        <a:buNone/>
                      </a:pPr>
                      <a:r>
                        <a:rPr lang="en-US" sz="1300" dirty="0">
                          <a:solidFill>
                            <a:srgbClr val="E2E8F0"/>
                          </a:solidFill>
                        </a:rPr>
                        <a:t>Adjacency list + binary min-heap</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41B3A"/>
                    </a:solidFill>
                  </a:tcPr>
                </a:tc>
                <a:tc>
                  <a:txBody>
                    <a:bodyPr/>
                    <a:lstStyle/>
                    <a:p>
                      <a:pPr algn="ctr" indent="0" marL="0">
                        <a:buNone/>
                      </a:pPr>
                      <a:r>
                        <a:rPr lang="en-US" sz="1300" dirty="0">
                          <a:solidFill>
                            <a:srgbClr val="E2E8F0"/>
                          </a:solidFill>
                        </a:rPr>
                        <a:t>O(E log V)</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41B3A"/>
                    </a:solidFill>
                  </a:tcPr>
                </a:tc>
                <a:tc>
                  <a:txBody>
                    <a:bodyPr/>
                    <a:lstStyle/>
                    <a:p>
                      <a:pPr algn="ctr" indent="0" marL="0">
                        <a:buNone/>
                      </a:pPr>
                      <a:r>
                        <a:rPr lang="en-US" sz="1300" dirty="0">
                          <a:solidFill>
                            <a:srgbClr val="E2E8F0"/>
                          </a:solidFill>
                        </a:rPr>
                        <a:t>O(V + E)</a:t>
                      </a:r>
                      <a:endParaRPr lang="en-US" sz="1300" dirty="0"/>
                    </a:p>
                  </a:txBody>
                  <a:tcPr marL="91440" marR="91440" marT="45720" marB="45720">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41B3A"/>
                    </a:solidFill>
                  </a:tcPr>
                </a:tc>
              </a:tr>
            </a:tbl>
          </a:graphicData>
        </a:graphic>
      </p:graphicFrame>
      <p:sp>
        <p:nvSpPr>
          <p:cNvPr id="8" name="Shape 4"/>
          <p:cNvSpPr/>
          <p:nvPr/>
        </p:nvSpPr>
        <p:spPr>
          <a:xfrm>
            <a:off x="457200" y="2423160"/>
            <a:ext cx="4023360" cy="2194560"/>
          </a:xfrm>
          <a:prstGeom prst="roundRect">
            <a:avLst>
              <a:gd name="adj" fmla="val 3333"/>
            </a:avLst>
          </a:prstGeom>
          <a:solidFill>
            <a:srgbClr val="141B3A"/>
          </a:solidFill>
          <a:ln w="12700">
            <a:solidFill>
              <a:srgbClr val="22D3EE"/>
            </a:solidFill>
            <a:prstDash val="solid"/>
          </a:ln>
        </p:spPr>
      </p:sp>
      <p:sp>
        <p:nvSpPr>
          <p:cNvPr id="9" name="Text 5"/>
          <p:cNvSpPr txBox="1"/>
          <p:nvPr/>
        </p:nvSpPr>
        <p:spPr>
          <a:xfrm>
            <a:off x="640080" y="2514600"/>
            <a:ext cx="3657600" cy="2011680"/>
          </a:xfrm>
          <a:prstGeom prst="rect">
            <a:avLst/>
          </a:prstGeom>
          <a:noFill/>
          <a:ln/>
        </p:spPr>
        <p:txBody>
          <a:bodyPr wrap="square" lIns="0" tIns="0" rIns="0" bIns="0" rtlCol="0" anchor="t"/>
          <a:lstStyle/>
          <a:p>
            <a:pPr indent="0" marL="0">
              <a:spcAft>
                <a:spcPts val="600"/>
              </a:spcAft>
              <a:buNone/>
            </a:pPr>
            <a:r>
              <a:rPr lang="en-US" sz="1200" b="1" dirty="0">
                <a:solidFill>
                  <a:srgbClr val="22D3EE"/>
                </a:solidFill>
                <a:latin typeface="Calibri" pitchFamily="34" charset="0"/>
                <a:ea typeface="Calibri" pitchFamily="34" charset="-122"/>
                <a:cs typeface="Calibri" pitchFamily="34" charset="-120"/>
              </a:rPr>
              <a:t>Time: O(V²)</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Min-key search: O(V) per iteration</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Neighbour update scans all V vertices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V iterations → O(V²)</a:t>
            </a:r>
            <a:endParaRPr lang="en-US" sz="1200" dirty="0"/>
          </a:p>
        </p:txBody>
      </p:sp>
      <p:sp>
        <p:nvSpPr>
          <p:cNvPr id="10" name="Shape 6"/>
          <p:cNvSpPr/>
          <p:nvPr/>
        </p:nvSpPr>
        <p:spPr>
          <a:xfrm>
            <a:off x="4663440" y="2423160"/>
            <a:ext cx="4023360" cy="2194560"/>
          </a:xfrm>
          <a:prstGeom prst="roundRect">
            <a:avLst>
              <a:gd name="adj" fmla="val 3333"/>
            </a:avLst>
          </a:prstGeom>
          <a:solidFill>
            <a:srgbClr val="141B3A"/>
          </a:solidFill>
          <a:ln w="12700">
            <a:solidFill>
              <a:srgbClr val="A855F7"/>
            </a:solidFill>
            <a:prstDash val="solid"/>
          </a:ln>
        </p:spPr>
      </p:sp>
      <p:sp>
        <p:nvSpPr>
          <p:cNvPr id="11" name="Text 7"/>
          <p:cNvSpPr txBox="1"/>
          <p:nvPr/>
        </p:nvSpPr>
        <p:spPr>
          <a:xfrm>
            <a:off x="4846320" y="2514600"/>
            <a:ext cx="3657600" cy="2011680"/>
          </a:xfrm>
          <a:prstGeom prst="rect">
            <a:avLst/>
          </a:prstGeom>
          <a:noFill/>
          <a:ln/>
        </p:spPr>
        <p:txBody>
          <a:bodyPr wrap="square" lIns="0" tIns="0" rIns="0" bIns="0" rtlCol="0" anchor="t"/>
          <a:lstStyle/>
          <a:p>
            <a:pPr indent="0" marL="0">
              <a:spcAft>
                <a:spcPts val="600"/>
              </a:spcAft>
              <a:buNone/>
            </a:pPr>
            <a:r>
              <a:rPr lang="en-US" sz="1200" b="1" dirty="0">
                <a:solidFill>
                  <a:srgbClr val="A855F7"/>
                </a:solidFill>
                <a:latin typeface="Calibri" pitchFamily="34" charset="0"/>
                <a:ea typeface="Calibri" pitchFamily="34" charset="-122"/>
                <a:cs typeface="Calibri" pitchFamily="34" charset="-120"/>
              </a:rPr>
              <a:t>Space: O(V²)</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Adjacency matrix: O(V²)</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key[], parent[], mstSet[]: O(V)</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Total: O(V²)</a:t>
            </a:r>
            <a:endParaRPr lang="en-US" sz="1200" dirty="0"/>
          </a:p>
          <a:p>
            <a:pPr indent="0" marL="0">
              <a:spcAft>
                <a:spcPts val="600"/>
              </a:spcAft>
              <a:buNone/>
            </a:pPr>
            <a:r>
              <a:rPr lang="en-US" sz="1200" dirty="0">
                <a:solidFill>
                  <a:srgbClr val="94A3B8"/>
                </a:solidFill>
                <a:latin typeface="Calibri" pitchFamily="34" charset="0"/>
                <a:ea typeface="Calibri" pitchFamily="34" charset="-122"/>
                <a:cs typeface="Calibri" pitchFamily="34" charset="-120"/>
              </a:rPr>
              <a:t>V = vertices, E = edges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Applications and Practical Considerations</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11</a:t>
            </a:r>
            <a:endParaRPr lang="en-US" sz="800" dirty="0"/>
          </a:p>
        </p:txBody>
      </p:sp>
      <p:sp>
        <p:nvSpPr>
          <p:cNvPr id="7" name="Shape 4"/>
          <p:cNvSpPr/>
          <p:nvPr/>
        </p:nvSpPr>
        <p:spPr>
          <a:xfrm>
            <a:off x="365760" y="914400"/>
            <a:ext cx="2697480" cy="3749040"/>
          </a:xfrm>
          <a:prstGeom prst="roundRect">
            <a:avLst>
              <a:gd name="adj" fmla="val 2712"/>
            </a:avLst>
          </a:prstGeom>
          <a:solidFill>
            <a:srgbClr val="141B3A"/>
          </a:solidFill>
          <a:ln w="12700">
            <a:solidFill>
              <a:srgbClr val="22D3EE"/>
            </a:solidFill>
            <a:prstDash val="solid"/>
          </a:ln>
        </p:spPr>
      </p:sp>
      <p:sp>
        <p:nvSpPr>
          <p:cNvPr id="8" name="Text 5"/>
          <p:cNvSpPr txBox="1"/>
          <p:nvPr/>
        </p:nvSpPr>
        <p:spPr>
          <a:xfrm>
            <a:off x="502920" y="1005840"/>
            <a:ext cx="2377440" cy="320040"/>
          </a:xfrm>
          <a:prstGeom prst="rect">
            <a:avLst/>
          </a:prstGeom>
          <a:noFill/>
          <a:ln/>
        </p:spPr>
        <p:txBody>
          <a:bodyPr wrap="square" lIns="0" tIns="0" rIns="0" bIns="0" rtlCol="0" anchor="t"/>
          <a:lstStyle/>
          <a:p>
            <a:pPr indent="0" marL="0">
              <a:buNone/>
            </a:pPr>
            <a:r>
              <a:rPr lang="en-US" sz="1500" b="1" dirty="0">
                <a:solidFill>
                  <a:srgbClr val="22D3EE"/>
                </a:solidFill>
                <a:latin typeface="Calibri" pitchFamily="34" charset="0"/>
                <a:ea typeface="Calibri" pitchFamily="34" charset="-122"/>
                <a:cs typeface="Calibri" pitchFamily="34" charset="-120"/>
              </a:rPr>
              <a:t>Applications</a:t>
            </a:r>
            <a:endParaRPr lang="en-US" sz="1500" dirty="0"/>
          </a:p>
        </p:txBody>
      </p:sp>
      <p:sp>
        <p:nvSpPr>
          <p:cNvPr id="9" name="Text 6"/>
          <p:cNvSpPr txBox="1"/>
          <p:nvPr/>
        </p:nvSpPr>
        <p:spPr>
          <a:xfrm>
            <a:off x="502920" y="1463040"/>
            <a:ext cx="2423160" cy="31089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Computer network cabling</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Power distribution networks</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Road and transport planning</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Telecom infrastructure</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Linking locations at minimum cost</a:t>
            </a:r>
            <a:endParaRPr lang="en-US" sz="1100" dirty="0"/>
          </a:p>
        </p:txBody>
      </p:sp>
      <p:sp>
        <p:nvSpPr>
          <p:cNvPr id="10" name="Shape 7"/>
          <p:cNvSpPr/>
          <p:nvPr/>
        </p:nvSpPr>
        <p:spPr>
          <a:xfrm>
            <a:off x="3200400" y="914400"/>
            <a:ext cx="2697480" cy="3749040"/>
          </a:xfrm>
          <a:prstGeom prst="roundRect">
            <a:avLst>
              <a:gd name="adj" fmla="val 2712"/>
            </a:avLst>
          </a:prstGeom>
          <a:solidFill>
            <a:srgbClr val="141B3A"/>
          </a:solidFill>
          <a:ln w="12700">
            <a:solidFill>
              <a:srgbClr val="3B82F6"/>
            </a:solidFill>
            <a:prstDash val="solid"/>
          </a:ln>
        </p:spPr>
      </p:sp>
      <p:sp>
        <p:nvSpPr>
          <p:cNvPr id="11" name="Text 8"/>
          <p:cNvSpPr txBox="1"/>
          <p:nvPr/>
        </p:nvSpPr>
        <p:spPr>
          <a:xfrm>
            <a:off x="3337560" y="1005840"/>
            <a:ext cx="2377440" cy="320040"/>
          </a:xfrm>
          <a:prstGeom prst="rect">
            <a:avLst/>
          </a:prstGeom>
          <a:noFill/>
          <a:ln/>
        </p:spPr>
        <p:txBody>
          <a:bodyPr wrap="square" lIns="0" tIns="0" rIns="0" bIns="0" rtlCol="0" anchor="t"/>
          <a:lstStyle/>
          <a:p>
            <a:pPr indent="0" marL="0">
              <a:buNone/>
            </a:pPr>
            <a:r>
              <a:rPr lang="en-US" sz="1500" b="1" dirty="0">
                <a:solidFill>
                  <a:srgbClr val="60A5FA"/>
                </a:solidFill>
                <a:latin typeface="Calibri" pitchFamily="34" charset="0"/>
                <a:ea typeface="Calibri" pitchFamily="34" charset="-122"/>
                <a:cs typeface="Calibri" pitchFamily="34" charset="-120"/>
              </a:rPr>
              <a:t>Advantages</a:t>
            </a:r>
            <a:endParaRPr lang="en-US" sz="1500" dirty="0"/>
          </a:p>
        </p:txBody>
      </p:sp>
      <p:sp>
        <p:nvSpPr>
          <p:cNvPr id="12" name="Text 9"/>
          <p:cNvSpPr txBox="1"/>
          <p:nvPr/>
        </p:nvSpPr>
        <p:spPr>
          <a:xfrm>
            <a:off x="3337560" y="1463040"/>
            <a:ext cx="2423160" cy="31089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Simple, intuitive greedy method</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Gives an MST for a connected, undirected, weighted graph</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Matrix version suits dense graphs</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Builds the MST incrementally</a:t>
            </a:r>
            <a:endParaRPr lang="en-US" sz="1100" dirty="0"/>
          </a:p>
        </p:txBody>
      </p:sp>
      <p:sp>
        <p:nvSpPr>
          <p:cNvPr id="13" name="Shape 10"/>
          <p:cNvSpPr/>
          <p:nvPr/>
        </p:nvSpPr>
        <p:spPr>
          <a:xfrm>
            <a:off x="6035040" y="914400"/>
            <a:ext cx="2697480" cy="3749040"/>
          </a:xfrm>
          <a:prstGeom prst="roundRect">
            <a:avLst>
              <a:gd name="adj" fmla="val 2712"/>
            </a:avLst>
          </a:prstGeom>
          <a:solidFill>
            <a:srgbClr val="141B3A"/>
          </a:solidFill>
          <a:ln w="12700">
            <a:solidFill>
              <a:srgbClr val="A855F7"/>
            </a:solidFill>
            <a:prstDash val="solid"/>
          </a:ln>
        </p:spPr>
      </p:sp>
      <p:sp>
        <p:nvSpPr>
          <p:cNvPr id="14" name="Text 11"/>
          <p:cNvSpPr txBox="1"/>
          <p:nvPr/>
        </p:nvSpPr>
        <p:spPr>
          <a:xfrm>
            <a:off x="6172200" y="1005840"/>
            <a:ext cx="2377440" cy="320040"/>
          </a:xfrm>
          <a:prstGeom prst="rect">
            <a:avLst/>
          </a:prstGeom>
          <a:noFill/>
          <a:ln/>
        </p:spPr>
        <p:txBody>
          <a:bodyPr wrap="square" lIns="0" tIns="0" rIns="0" bIns="0" rtlCol="0" anchor="t"/>
          <a:lstStyle/>
          <a:p>
            <a:pPr indent="0" marL="0">
              <a:buNone/>
            </a:pPr>
            <a:r>
              <a:rPr lang="en-US" sz="1500" b="1" dirty="0">
                <a:solidFill>
                  <a:srgbClr val="A855F7"/>
                </a:solidFill>
                <a:latin typeface="Calibri" pitchFamily="34" charset="0"/>
                <a:ea typeface="Calibri" pitchFamily="34" charset="-122"/>
                <a:cs typeface="Calibri" pitchFamily="34" charset="-120"/>
              </a:rPr>
              <a:t>Limitations</a:t>
            </a:r>
            <a:endParaRPr lang="en-US" sz="1500" dirty="0"/>
          </a:p>
        </p:txBody>
      </p:sp>
      <p:sp>
        <p:nvSpPr>
          <p:cNvPr id="15" name="Text 12"/>
          <p:cNvSpPr txBox="1"/>
          <p:nvPr/>
        </p:nvSpPr>
        <p:spPr>
          <a:xfrm>
            <a:off x="6172200" y="1463040"/>
            <a:ext cx="2423160" cy="31089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Assumes a connected graph</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Disconnected graphs not handled safely</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O(V²) is slow for huge sparse graphs</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Zero-weight edges not representable (0 = no edge)</a:t>
            </a:r>
            <a:endParaRPr lang="en-US" sz="1100" dirty="0"/>
          </a:p>
          <a:p>
            <a:pPr marL="342900" indent="-342900">
              <a:spcAft>
                <a:spcPts val="400"/>
              </a:spcAft>
              <a:buSzPct val="100000"/>
              <a:buChar char="•"/>
            </a:pPr>
            <a:r>
              <a:rPr lang="en-US" sz="1100" dirty="0">
                <a:solidFill>
                  <a:srgbClr val="E2E8F0"/>
                </a:solidFill>
                <a:latin typeface="Calibri" pitchFamily="34" charset="0"/>
                <a:ea typeface="Calibri" pitchFamily="34" charset="-122"/>
                <a:cs typeface="Calibri" pitchFamily="34" charset="-120"/>
              </a:rPr>
              <a:t>Needs input validation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0" y="274320"/>
            <a:ext cx="109728" cy="457200"/>
          </a:xfrm>
          <a:prstGeom prst="rect">
            <a:avLst/>
          </a:prstGeom>
          <a:solidFill>
            <a:srgbClr val="22D3EE"/>
          </a:solidFill>
          <a:ln w="12700">
            <a:solidFill>
              <a:srgbClr val="22D3EE"/>
            </a:solidFill>
            <a:prstDash val="solid"/>
          </a:ln>
        </p:spPr>
      </p:sp>
      <p:sp>
        <p:nvSpPr>
          <p:cNvPr id="3" name="Text 1"/>
          <p:cNvSpPr txBox="1"/>
          <p:nvPr/>
        </p:nvSpPr>
        <p:spPr>
          <a:xfrm>
            <a:off x="365760" y="274320"/>
            <a:ext cx="8229600" cy="457200"/>
          </a:xfrm>
          <a:prstGeom prst="rect">
            <a:avLst/>
          </a:prstGeom>
          <a:noFill/>
          <a:ln/>
        </p:spPr>
        <p:txBody>
          <a:bodyPr wrap="square" lIns="0" tIns="0" rIns="0" bIns="0" rtlCol="0" anchor="ctr"/>
          <a:lstStyle/>
          <a:p>
            <a:pPr indent="0" marL="0">
              <a:buNone/>
            </a:pPr>
            <a:r>
              <a:rPr lang="en-US" sz="2400" b="1" dirty="0">
                <a:solidFill>
                  <a:srgbClr val="E2E8F0"/>
                </a:solidFill>
                <a:latin typeface="Calibri" pitchFamily="34" charset="0"/>
                <a:ea typeface="Calibri" pitchFamily="34" charset="-122"/>
                <a:cs typeface="Calibri" pitchFamily="34" charset="-120"/>
              </a:rPr>
              <a:t>Conclusion</a:t>
            </a:r>
            <a:endParaRPr lang="en-US" sz="2400" dirty="0"/>
          </a:p>
        </p:txBody>
      </p:sp>
      <p:sp>
        <p:nvSpPr>
          <p:cNvPr id="4" name="Text 2"/>
          <p:cNvSpPr txBox="1"/>
          <p:nvPr/>
        </p:nvSpPr>
        <p:spPr>
          <a:xfrm>
            <a:off x="365760" y="4846320"/>
            <a:ext cx="7498080" cy="18288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Prim's Algorithm  |  Pranjal Chaudhary  |  PRN 25070521235  |  Generated using Claude AI</a:t>
            </a:r>
            <a:endParaRPr lang="en-US" sz="800" dirty="0"/>
          </a:p>
        </p:txBody>
      </p:sp>
      <p:sp>
        <p:nvSpPr>
          <p:cNvPr id="5" name="Text 3"/>
          <p:cNvSpPr txBox="1"/>
          <p:nvPr/>
        </p:nvSpPr>
        <p:spPr>
          <a:xfrm>
            <a:off x="8412480" y="4846320"/>
            <a:ext cx="365760" cy="182880"/>
          </a:xfrm>
          <a:prstGeom prst="rect">
            <a:avLst/>
          </a:prstGeom>
          <a:noFill/>
          <a:ln/>
        </p:spPr>
        <p:txBody>
          <a:bodyPr wrap="square" lIns="0" tIns="0" rIns="0" bIns="0" rtlCol="0" anchor="t"/>
          <a:lstStyle/>
          <a:p>
            <a:pPr algn="r" indent="0" marL="0">
              <a:buNone/>
            </a:pPr>
            <a:r>
              <a:rPr lang="en-US" sz="800" dirty="0">
                <a:solidFill>
                  <a:srgbClr val="94A3B8"/>
                </a:solidFill>
                <a:latin typeface="Calibri" pitchFamily="34" charset="0"/>
                <a:ea typeface="Calibri" pitchFamily="34" charset="-122"/>
                <a:cs typeface="Calibri" pitchFamily="34" charset="-120"/>
              </a:rPr>
              <a:t>12</a:t>
            </a:r>
            <a:endParaRPr lang="en-US" sz="800" dirty="0"/>
          </a:p>
        </p:txBody>
      </p:sp>
      <p:sp>
        <p:nvSpPr>
          <p:cNvPr id="7" name="Text 4"/>
          <p:cNvSpPr txBox="1"/>
          <p:nvPr/>
        </p:nvSpPr>
        <p:spPr>
          <a:xfrm>
            <a:off x="365760" y="914400"/>
            <a:ext cx="4846320" cy="3017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Prim's is a greedy algorithm for an MST</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Starts from a chosen vertex</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Repeatedly picks the minimum-weight edge from the tree to an unvisited vertex</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MST of V vertices has V - 1 edges</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Example: 4 edges, total weight 9</a:t>
            </a:r>
            <a:endParaRPr lang="en-US" sz="1250" dirty="0"/>
          </a:p>
          <a:p>
            <a:pPr marL="342900" indent="-342900">
              <a:spcAft>
                <a:spcPts val="400"/>
              </a:spcAft>
              <a:buSzPct val="100000"/>
              <a:buChar char="•"/>
            </a:pPr>
            <a:r>
              <a:rPr lang="en-US" sz="1250" dirty="0">
                <a:solidFill>
                  <a:srgbClr val="E2E8F0"/>
                </a:solidFill>
                <a:latin typeface="Calibri" pitchFamily="34" charset="0"/>
                <a:ea typeface="Calibri" pitchFamily="34" charset="-122"/>
                <a:cs typeface="Calibri" pitchFamily="34" charset="-120"/>
              </a:rPr>
              <a:t>My adjacency-matrix code: O(V²) time, O(V²) space</a:t>
            </a:r>
            <a:endParaRPr lang="en-US" sz="1250" dirty="0"/>
          </a:p>
        </p:txBody>
      </p:sp>
      <p:sp>
        <p:nvSpPr>
          <p:cNvPr id="8" name="Shape 5"/>
          <p:cNvSpPr/>
          <p:nvPr/>
        </p:nvSpPr>
        <p:spPr>
          <a:xfrm>
            <a:off x="5486400" y="914400"/>
            <a:ext cx="3291840" cy="1737360"/>
          </a:xfrm>
          <a:prstGeom prst="roundRect">
            <a:avLst>
              <a:gd name="adj" fmla="val 4211"/>
            </a:avLst>
          </a:prstGeom>
          <a:solidFill>
            <a:srgbClr val="141B3A"/>
          </a:solidFill>
          <a:ln w="12700">
            <a:solidFill>
              <a:srgbClr val="3B82F6"/>
            </a:solidFill>
            <a:prstDash val="solid"/>
          </a:ln>
        </p:spPr>
      </p:sp>
      <p:sp>
        <p:nvSpPr>
          <p:cNvPr id="9" name="Text 6"/>
          <p:cNvSpPr txBox="1"/>
          <p:nvPr/>
        </p:nvSpPr>
        <p:spPr>
          <a:xfrm>
            <a:off x="5623560" y="987552"/>
            <a:ext cx="3017520" cy="1645920"/>
          </a:xfrm>
          <a:prstGeom prst="rect">
            <a:avLst/>
          </a:prstGeom>
          <a:noFill/>
          <a:ln/>
        </p:spPr>
        <p:txBody>
          <a:bodyPr wrap="square" lIns="0" tIns="0" rIns="0" bIns="0" rtlCol="0" anchor="t"/>
          <a:lstStyle/>
          <a:p>
            <a:pPr indent="0" marL="0">
              <a:spcAft>
                <a:spcPts val="400"/>
              </a:spcAft>
              <a:buNone/>
            </a:pPr>
            <a:r>
              <a:rPr lang="en-US" sz="1050" b="1" dirty="0">
                <a:solidFill>
                  <a:srgbClr val="22D3EE"/>
                </a:solidFill>
                <a:latin typeface="Calibri" pitchFamily="34" charset="0"/>
                <a:ea typeface="Calibri" pitchFamily="34" charset="-122"/>
                <a:cs typeface="Calibri" pitchFamily="34" charset="-120"/>
              </a:rPr>
              <a:t>References</a:t>
            </a:r>
            <a:endParaRPr lang="en-US" sz="1050" dirty="0"/>
          </a:p>
          <a:p>
            <a:pPr indent="0" marL="0">
              <a:spcAft>
                <a:spcPts val="400"/>
              </a:spcAft>
              <a:buNone/>
            </a:pPr>
            <a:r>
              <a:rPr lang="en-US" sz="1050" dirty="0">
                <a:solidFill>
                  <a:srgbClr val="E2E8F0"/>
                </a:solidFill>
                <a:latin typeface="Calibri" pitchFamily="34" charset="0"/>
                <a:ea typeface="Calibri" pitchFamily="34" charset="-122"/>
                <a:cs typeface="Calibri" pitchFamily="34" charset="-120"/>
              </a:rPr>
              <a:t>Cormen, Leiserson, Rivest, Stein - Introduction to Algorithms</a:t>
            </a:r>
            <a:endParaRPr lang="en-US" sz="1050" dirty="0"/>
          </a:p>
          <a:p>
            <a:pPr indent="0" marL="0">
              <a:spcAft>
                <a:spcPts val="400"/>
              </a:spcAft>
              <a:buNone/>
            </a:pPr>
            <a:r>
              <a:rPr lang="en-US" sz="1050" dirty="0">
                <a:solidFill>
                  <a:srgbClr val="E2E8F0"/>
                </a:solidFill>
                <a:latin typeface="Calibri" pitchFamily="34" charset="0"/>
                <a:ea typeface="Calibri" pitchFamily="34" charset="-122"/>
                <a:cs typeface="Calibri" pitchFamily="34" charset="-120"/>
              </a:rPr>
              <a:t>GeeksforGeeks - Prim's Minimum Spanning Tree Algorithm</a:t>
            </a:r>
            <a:endParaRPr lang="en-US" sz="1050" dirty="0"/>
          </a:p>
          <a:p>
            <a:pPr indent="0" marL="0">
              <a:spcAft>
                <a:spcPts val="400"/>
              </a:spcAft>
              <a:buNone/>
            </a:pPr>
            <a:r>
              <a:rPr lang="en-US" sz="1050" dirty="0">
                <a:solidFill>
                  <a:srgbClr val="E2E8F0"/>
                </a:solidFill>
                <a:latin typeface="Calibri" pitchFamily="34" charset="0"/>
                <a:ea typeface="Calibri" pitchFamily="34" charset="-122"/>
                <a:cs typeface="Calibri" pitchFamily="34" charset="-120"/>
              </a:rPr>
              <a:t>Programiz - Prim's Algorithm</a:t>
            </a:r>
            <a:endParaRPr lang="en-US" sz="1050" dirty="0"/>
          </a:p>
        </p:txBody>
      </p:sp>
      <p:sp>
        <p:nvSpPr>
          <p:cNvPr id="10" name="Text 7"/>
          <p:cNvSpPr txBox="1"/>
          <p:nvPr/>
        </p:nvSpPr>
        <p:spPr>
          <a:xfrm>
            <a:off x="5486400" y="2834640"/>
            <a:ext cx="3291840" cy="457200"/>
          </a:xfrm>
          <a:prstGeom prst="rect">
            <a:avLst/>
          </a:prstGeom>
          <a:noFill/>
          <a:ln/>
        </p:spPr>
        <p:txBody>
          <a:bodyPr wrap="square" lIns="0" tIns="0" rIns="0" bIns="0" rtlCol="0" anchor="t"/>
          <a:lstStyle/>
          <a:p>
            <a:pPr algn="ctr" indent="0" marL="0">
              <a:buNone/>
            </a:pPr>
            <a:r>
              <a:rPr lang="en-US" sz="2800" b="1" dirty="0">
                <a:solidFill>
                  <a:srgbClr val="22D3EE"/>
                </a:solidFill>
                <a:latin typeface="Calibri" pitchFamily="34" charset="0"/>
                <a:ea typeface="Calibri" pitchFamily="34" charset="-122"/>
                <a:cs typeface="Calibri" pitchFamily="34" charset="-120"/>
              </a:rPr>
              <a:t>THANK YOU!</a:t>
            </a:r>
            <a:endParaRPr lang="en-US" sz="2800" dirty="0"/>
          </a:p>
        </p:txBody>
      </p:sp>
      <p:sp>
        <p:nvSpPr>
          <p:cNvPr id="11" name="Text 8"/>
          <p:cNvSpPr txBox="1"/>
          <p:nvPr/>
        </p:nvSpPr>
        <p:spPr>
          <a:xfrm>
            <a:off x="5486400" y="3337560"/>
            <a:ext cx="3291840" cy="320040"/>
          </a:xfrm>
          <a:prstGeom prst="rect">
            <a:avLst/>
          </a:prstGeom>
          <a:noFill/>
          <a:ln/>
        </p:spPr>
        <p:txBody>
          <a:bodyPr wrap="square" lIns="0" tIns="0" rIns="0" bIns="0" rtlCol="0" anchor="t"/>
          <a:lstStyle/>
          <a:p>
            <a:pPr algn="ctr" indent="0" marL="0">
              <a:buNone/>
            </a:pPr>
            <a:r>
              <a:rPr lang="en-US" sz="1600" dirty="0">
                <a:solidFill>
                  <a:srgbClr val="E2E8F0"/>
                </a:solidFill>
                <a:latin typeface="Calibri" pitchFamily="34" charset="0"/>
                <a:ea typeface="Calibri" pitchFamily="34" charset="-122"/>
                <a:cs typeface="Calibri" pitchFamily="34" charset="-120"/>
              </a:rPr>
              <a:t>Questions?</a:t>
            </a:r>
            <a:endParaRPr lang="en-US" sz="1600" dirty="0"/>
          </a:p>
        </p:txBody>
      </p:sp>
      <p:sp>
        <p:nvSpPr>
          <p:cNvPr id="12" name="Text 9"/>
          <p:cNvSpPr/>
          <p:nvPr/>
        </p:nvSpPr>
        <p:spPr>
          <a:xfrm>
            <a:off x="6035040" y="3931920"/>
            <a:ext cx="2194560" cy="320040"/>
          </a:xfrm>
          <a:prstGeom prst="roundRect">
            <a:avLst>
              <a:gd name="adj" fmla="val 28571"/>
            </a:avLst>
          </a:prstGeom>
          <a:solidFill>
            <a:srgbClr val="A855F7"/>
          </a:solidFill>
          <a:ln/>
        </p:spPr>
        <p:txBody>
          <a:bodyPr wrap="square" lIns="0" tIns="0" rIns="0" bIns="0" rtlCol="0" anchor="ctr"/>
          <a:lstStyle/>
          <a:p>
            <a:pPr algn="ctr" indent="0" marL="0">
              <a:buNone/>
            </a:pPr>
            <a:r>
              <a:rPr lang="en-US" sz="1100" b="1" dirty="0">
                <a:solidFill>
                  <a:srgbClr val="FFFFFF"/>
                </a:solidFill>
              </a:rPr>
              <a:t>Generated using Claude AI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Prim's Algorithm - MST</dc:title>
  <dc:subject>PptxGenJS Presentation</dc:subject>
  <dc:creator>Pranjal Chaudhary</dc:creator>
  <cp:lastModifiedBy>Pranjal Chaudhary</cp:lastModifiedBy>
  <cp:revision>1</cp:revision>
  <dcterms:created xsi:type="dcterms:W3CDTF">2026-10-19T12:04:40Z</dcterms:created>
  <dcterms:modified xsi:type="dcterms:W3CDTF">2026-10-19T12:04:40Z</dcterms:modified>
</cp:coreProperties>
</file>